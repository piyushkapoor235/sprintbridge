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782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we’re [team]. SprintBridge connects students and job seekers with recruiters, universities, mentors and founders, and everything in it runs on evidence rather than self-reported claims. It is live right now at the address on screen.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problems, one root cause: nothing in the campus-to-career chain is backed by evidence. Resumes are claims, eligibility is manual, verification can be faked, and fake listings exploit the people with the least experience.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and job seekers are one account type; the only difference is that a student is linked to a university roster, which opens campus drives and student pricing. Every row here is built and working in the live app.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sign-up you choose what you’re joining as. Job seeker is the default. A university importing its roster turns matching accounts into students automatically, but only for confirmed emails. Recruiters, universities and mentors apply, and an operator checks they really work there before the workspace opens. The database itself refuses any other way to grant a role.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stages. Get started: the university imports its roster and the student’s account links by email. Know your skills: upload a resume. Apply: eligibility for a campus drive is checked by the database, and if it fails the student sees the reason, for example “Python is required”. Grow: that missing skill links to mentors, and a mentor-verified badge raises their fit score.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product. The language model only extracts: which skill, which exact line, which section. Every number comes from a deterministic Python formula that we can show the student. Confidence depends on evidence: mentor-verified counts 1.0, system-assessed 0.8, self-declared 0.3. Only a human mentor can certify level 4. We tested a prompt-injection line in a resume and it had no effect.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numbers from the deployed app this morning, not mock-ups. The same resume uploaded as a text PDF and as a degraded scan gave the same 18-skill profile in our local tests. Fit never overrides campus eligibility; they are shown separately.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recruiter posts a campus listing and shares its ID with a university. The university authorizes a drive with its rules, and the listing becomes visible only to that university’s roster students. Applying re-checks everything inside one database transaction and saves a snapshot of the profile and eligibility. The university sees only applications made through its own drives. In our live run, Asha was eligible and got an offer; Vikram was blocked with the reason “Python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Mentoring is paid through escrow: if a mentor declines, the student is refunded automatically; when a session completes, the mentor’s payout is held for seven days in case of a dispute. Verification is designed against collusion: the verifier is revealed only when the session starts, can’t certify above their own level, and badges expire after 18 months. In the live run, Asha had just had a session with Arjun, so the system assigned Neha instead.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student opening a flagged listing sees an amber warning: genuine employers never charge candidates. After three distinct users report it, it disappears from students’ view until an operator reviews it. The company can still see it. The audit log records payments, refunds, verification results, moderation, application decisions and role approvals.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forwards each user’s own verified login token to the database, so the database applies that user’s permissions. That means even a bug in our API can’t leak another company’s applicants or another university’s roster. Login tokens are verified on every request, and organizations are fully isolated from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Revenue comes from four sides: subscriptions for heavy users, recruiter listing plans, a per-student university plan, and commission on mentoring and verification. Founders have a free plan with one venture and a ₹999 plan with three. Payments in the demo run in a clearly labelled test mode; the escrow, holds, refunds and disputes are real logic, ready for a payment provider like Razorpay.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 to be precise about what is real. Everything on the left runs against the real database in the live app. On the right: payments are a simulated test mode by design for a hackathon; OCR for scanned resumes works but needs more memory than our free server has.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browser. Suggested order from docs/showcase-workflow.md: sign-up with role choice, recruiter approval, campus placement, resume to fit, mentor and verification, venture, then scam reports. Wake the API a minute before.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133A"/>
        </a:solidFill>
        <a:effectLst/>
      </p:bgPr>
    </p:bg>
    <p:spTree>
      <p:nvGrpSpPr>
        <p:cNvPr id="1" name=""/>
        <p:cNvGrpSpPr/>
        <p:nvPr/>
      </p:nvGrpSpPr>
      <p:grpSpPr/>
      <p:sp>
        <p:nvSpPr>
          <p:cNvPr id="2" name="TextBox 1"/>
          <p:cNvSpPr txBox="1"/>
          <p:nvPr/>
        </p:nvSpPr>
        <p:spPr>
          <a:xfrm>
            <a:off x="812779" y="812779"/>
            <a:ext cx="10566135" cy="253993"/>
          </a:xfrm>
          <a:prstGeom prst="rect">
            <a:avLst/>
          </a:prstGeom>
          <a:noFill/>
        </p:spPr>
        <p:txBody>
          <a:bodyPr wrap="square" anchor="t" lIns="0" rIns="0" tIns="0" bIns="0">
            <a:spAutoFit/>
          </a:bodyPr>
          <a:lstStyle/>
          <a:p>
            <a:pPr algn="l">
              <a:lnSpc>
                <a:spcPct val="115000"/>
              </a:lnSpc>
            </a:pPr>
            <a:r>
              <a:rPr sz="1400" b="1">
                <a:solidFill>
                  <a:srgbClr val="B9B2FF"/>
                </a:solidFill>
                <a:latin typeface="Arial"/>
              </a:rPr>
              <a:t>CAMPUS TO CAREER · HACKATHON 2026</a:t>
            </a:r>
          </a:p>
        </p:txBody>
      </p:sp>
      <p:sp>
        <p:nvSpPr>
          <p:cNvPr id="3" name="TextBox 2"/>
          <p:cNvSpPr txBox="1"/>
          <p:nvPr/>
        </p:nvSpPr>
        <p:spPr>
          <a:xfrm>
            <a:off x="812779" y="2095447"/>
            <a:ext cx="10566135" cy="1206469"/>
          </a:xfrm>
          <a:prstGeom prst="rect">
            <a:avLst/>
          </a:prstGeom>
          <a:noFill/>
        </p:spPr>
        <p:txBody>
          <a:bodyPr wrap="square" anchor="t" lIns="0" rIns="0" tIns="0" bIns="0">
            <a:spAutoFit/>
          </a:bodyPr>
          <a:lstStyle/>
          <a:p>
            <a:pPr algn="l">
              <a:lnSpc>
                <a:spcPct val="100000"/>
              </a:lnSpc>
            </a:pPr>
            <a:r>
              <a:rPr sz="8400" b="1">
                <a:solidFill>
                  <a:srgbClr val="F6F5FB"/>
                </a:solidFill>
                <a:latin typeface="Arial"/>
              </a:rPr>
              <a:t>SprintBridge</a:t>
            </a:r>
          </a:p>
        </p:txBody>
      </p:sp>
      <p:sp>
        <p:nvSpPr>
          <p:cNvPr id="4" name="TextBox 3"/>
          <p:cNvSpPr txBox="1"/>
          <p:nvPr/>
        </p:nvSpPr>
        <p:spPr>
          <a:xfrm>
            <a:off x="812779" y="3428914"/>
            <a:ext cx="8254793" cy="888977"/>
          </a:xfrm>
          <a:prstGeom prst="rect">
            <a:avLst/>
          </a:prstGeom>
          <a:noFill/>
        </p:spPr>
        <p:txBody>
          <a:bodyPr wrap="square" anchor="t" lIns="0" rIns="0" tIns="0" bIns="0">
            <a:spAutoFit/>
          </a:bodyPr>
          <a:lstStyle/>
          <a:p>
            <a:pPr algn="l">
              <a:lnSpc>
                <a:spcPct val="120000"/>
              </a:lnSpc>
            </a:pPr>
            <a:r>
              <a:rPr sz="2600" b="0">
                <a:solidFill>
                  <a:srgbClr val="D9D6F7"/>
                </a:solidFill>
                <a:latin typeface="Arial"/>
              </a:rPr>
              <a:t>Careers built on evidence, not claims: skills you can prove, fit you can see, people you can trust.</a:t>
            </a:r>
          </a:p>
        </p:txBody>
      </p:sp>
      <p:sp>
        <p:nvSpPr>
          <p:cNvPr id="5" name="Rounded Rectangle 4"/>
          <p:cNvSpPr/>
          <p:nvPr/>
        </p:nvSpPr>
        <p:spPr>
          <a:xfrm>
            <a:off x="812779" y="5460863"/>
            <a:ext cx="3555911" cy="406389"/>
          </a:xfrm>
          <a:prstGeom prst="roundRect">
            <a:avLst>
              <a:gd name="adj" fmla="val 50000"/>
            </a:avLst>
          </a:prstGeom>
          <a:solidFill>
            <a:srgbClr val="533AFD"/>
          </a:solidFill>
          <a:ln>
            <a:noFill/>
          </a:ln>
          <a:effectLst/>
        </p:spPr>
        <p:style>
          <a:lnRef idx="1">
            <a:schemeClr val="accent1"/>
          </a:lnRef>
          <a:fillRef idx="3">
            <a:schemeClr val="accent1"/>
          </a:fillRef>
          <a:effectRef idx="2">
            <a:schemeClr val="accent1"/>
          </a:effectRef>
          <a:fontRef idx="minor">
            <a:schemeClr val="lt1"/>
          </a:fontRef>
        </p:style>
        <p:txBody>
          <a:bodyPr rtlCol="0" anchor="ctr" lIns="126996" rIns="126996"/>
          <a:lstStyle/>
          <a:p>
            <a:pPr algn="ctr"/>
            <a:r>
              <a:rPr sz="1400" b="0">
                <a:solidFill>
                  <a:srgbClr val="F6F5FB"/>
                </a:solidFill>
                <a:latin typeface="Arial"/>
              </a:rPr>
              <a:t>sprintbridge-frontend.onrender.com</a:t>
            </a:r>
          </a:p>
        </p:txBody>
      </p:sp>
      <p:sp>
        <p:nvSpPr>
          <p:cNvPr id="6" name="TextBox 5"/>
          <p:cNvSpPr txBox="1"/>
          <p:nvPr/>
        </p:nvSpPr>
        <p:spPr>
          <a:xfrm>
            <a:off x="4546486" y="5556111"/>
            <a:ext cx="5714857" cy="253993"/>
          </a:xfrm>
          <a:prstGeom prst="rect">
            <a:avLst/>
          </a:prstGeom>
          <a:noFill/>
        </p:spPr>
        <p:txBody>
          <a:bodyPr wrap="square" anchor="t" lIns="0" rIns="0" tIns="0" bIns="0">
            <a:spAutoFit/>
          </a:bodyPr>
          <a:lstStyle/>
          <a:p>
            <a:pPr algn="l">
              <a:lnSpc>
                <a:spcPct val="115000"/>
              </a:lnSpc>
            </a:pPr>
            <a:r>
              <a:rPr sz="1400" b="0">
                <a:solidFill>
                  <a:srgbClr val="B9B2FF"/>
                </a:solidFill>
                <a:latin typeface="Arial"/>
              </a:rPr>
              <a:t>[Team name] · [Presenter names]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5FB"/>
        </a:solidFill>
        <a:effectLst/>
      </p:bgPr>
    </p:bg>
    <p:spTree>
      <p:nvGrpSpPr>
        <p:cNvPr id="1" name=""/>
        <p:cNvGrpSpPr/>
        <p:nvPr/>
      </p:nvGrpSpPr>
      <p:grpSpPr/>
      <p:sp>
        <p:nvSpPr>
          <p:cNvPr id="2" name="TextBox 1"/>
          <p:cNvSpPr txBox="1"/>
          <p:nvPr/>
        </p:nvSpPr>
        <p:spPr>
          <a:xfrm>
            <a:off x="812779" y="812779"/>
            <a:ext cx="10566135" cy="253993"/>
          </a:xfrm>
          <a:prstGeom prst="rect">
            <a:avLst/>
          </a:prstGeom>
          <a:noFill/>
        </p:spPr>
        <p:txBody>
          <a:bodyPr wrap="square" anchor="t" lIns="0" rIns="0" tIns="0" bIns="0">
            <a:spAutoFit/>
          </a:bodyPr>
          <a:lstStyle/>
          <a:p>
            <a:pPr algn="l">
              <a:lnSpc>
                <a:spcPct val="115000"/>
              </a:lnSpc>
            </a:pPr>
            <a:r>
              <a:rPr sz="1400" b="1">
                <a:solidFill>
                  <a:srgbClr val="533AFD"/>
                </a:solidFill>
                <a:latin typeface="Arial"/>
              </a:rPr>
              <a:t>THE PROBLEM</a:t>
            </a:r>
          </a:p>
        </p:txBody>
      </p:sp>
      <p:sp>
        <p:nvSpPr>
          <p:cNvPr id="3" name="TextBox 2"/>
          <p:cNvSpPr txBox="1"/>
          <p:nvPr/>
        </p:nvSpPr>
        <p:spPr>
          <a:xfrm>
            <a:off x="812779" y="1168370"/>
            <a:ext cx="10566135" cy="1079473"/>
          </a:xfrm>
          <a:prstGeom prst="rect">
            <a:avLst/>
          </a:prstGeom>
          <a:noFill/>
        </p:spPr>
        <p:txBody>
          <a:bodyPr wrap="square" anchor="t" lIns="0" rIns="0" tIns="0" bIns="0">
            <a:spAutoFit/>
          </a:bodyPr>
          <a:lstStyle/>
          <a:p>
            <a:pPr algn="l">
              <a:lnSpc>
                <a:spcPct val="100000"/>
              </a:lnSpc>
            </a:pPr>
            <a:r>
              <a:rPr sz="3600" b="1">
                <a:solidFill>
                  <a:srgbClr val="15133A"/>
                </a:solidFill>
                <a:latin typeface="Arial"/>
              </a:rPr>
              <a:t>Every step from campus to career runs on unverified claims</a:t>
            </a:r>
          </a:p>
        </p:txBody>
      </p:sp>
      <p:sp>
        <p:nvSpPr>
          <p:cNvPr id="4" name="Rounded Rectangle 3"/>
          <p:cNvSpPr/>
          <p:nvPr/>
        </p:nvSpPr>
        <p:spPr>
          <a:xfrm>
            <a:off x="812779" y="2603434"/>
            <a:ext cx="5194170" cy="1523961"/>
          </a:xfrm>
          <a:prstGeom prst="roundRect">
            <a:avLst>
              <a:gd name="adj" fmla="val 8333"/>
            </a:avLst>
          </a:prstGeom>
          <a:solidFill>
            <a:srgbClr val="FFFFFF"/>
          </a:solidFill>
          <a:ln w="9525">
            <a:solidFill>
              <a:srgbClr val="E2D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1373" y="2832029"/>
            <a:ext cx="4736981" cy="380990"/>
          </a:xfrm>
          <a:prstGeom prst="rect">
            <a:avLst/>
          </a:prstGeom>
          <a:noFill/>
        </p:spPr>
        <p:txBody>
          <a:bodyPr wrap="square" anchor="t" lIns="0" rIns="0" tIns="0" bIns="0">
            <a:spAutoFit/>
          </a:bodyPr>
          <a:lstStyle/>
          <a:p>
            <a:pPr algn="l">
              <a:lnSpc>
                <a:spcPct val="115000"/>
              </a:lnSpc>
            </a:pPr>
            <a:r>
              <a:rPr sz="2000" b="1">
                <a:solidFill>
                  <a:srgbClr val="15133A"/>
                </a:solidFill>
                <a:latin typeface="Arial"/>
              </a:rPr>
              <a:t>Resumes are self-reported</a:t>
            </a:r>
          </a:p>
        </p:txBody>
      </p:sp>
      <p:sp>
        <p:nvSpPr>
          <p:cNvPr id="6" name="TextBox 5"/>
          <p:cNvSpPr txBox="1"/>
          <p:nvPr/>
        </p:nvSpPr>
        <p:spPr>
          <a:xfrm>
            <a:off x="1041373" y="3238419"/>
            <a:ext cx="4736981" cy="914377"/>
          </a:xfrm>
          <a:prstGeom prst="rect">
            <a:avLst/>
          </a:prstGeom>
          <a:noFill/>
        </p:spPr>
        <p:txBody>
          <a:bodyPr wrap="square" anchor="t" lIns="0" rIns="0" tIns="0" bIns="0">
            <a:spAutoFit/>
          </a:bodyPr>
          <a:lstStyle/>
          <a:p>
            <a:pPr algn="l">
              <a:lnSpc>
                <a:spcPct val="125000"/>
              </a:lnSpc>
            </a:pPr>
            <a:r>
              <a:rPr sz="1500" b="0">
                <a:solidFill>
                  <a:srgbClr val="454A63"/>
                </a:solidFill>
                <a:latin typeface="Arial"/>
              </a:rPr>
              <a:t>Anyone can list “Python, AWS, React”. Recruiters can’t tell evidence from keywords.</a:t>
            </a:r>
          </a:p>
        </p:txBody>
      </p:sp>
      <p:sp>
        <p:nvSpPr>
          <p:cNvPr id="7" name="Rounded Rectangle 6"/>
          <p:cNvSpPr/>
          <p:nvPr/>
        </p:nvSpPr>
        <p:spPr>
          <a:xfrm>
            <a:off x="6184745" y="2603434"/>
            <a:ext cx="5194170" cy="1523961"/>
          </a:xfrm>
          <a:prstGeom prst="roundRect">
            <a:avLst>
              <a:gd name="adj" fmla="val 8333"/>
            </a:avLst>
          </a:prstGeom>
          <a:solidFill>
            <a:srgbClr val="FFFFFF"/>
          </a:solidFill>
          <a:ln w="9525">
            <a:solidFill>
              <a:srgbClr val="E2D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3339" y="2832029"/>
            <a:ext cx="4736981" cy="380990"/>
          </a:xfrm>
          <a:prstGeom prst="rect">
            <a:avLst/>
          </a:prstGeom>
          <a:noFill/>
        </p:spPr>
        <p:txBody>
          <a:bodyPr wrap="square" anchor="t" lIns="0" rIns="0" tIns="0" bIns="0">
            <a:spAutoFit/>
          </a:bodyPr>
          <a:lstStyle/>
          <a:p>
            <a:pPr algn="l">
              <a:lnSpc>
                <a:spcPct val="115000"/>
              </a:lnSpc>
            </a:pPr>
            <a:r>
              <a:rPr sz="2000" b="1">
                <a:solidFill>
                  <a:srgbClr val="15133A"/>
                </a:solidFill>
                <a:latin typeface="Arial"/>
              </a:rPr>
              <a:t>Placements live in spreadsheets</a:t>
            </a:r>
          </a:p>
        </p:txBody>
      </p:sp>
      <p:sp>
        <p:nvSpPr>
          <p:cNvPr id="9" name="TextBox 8"/>
          <p:cNvSpPr txBox="1"/>
          <p:nvPr/>
        </p:nvSpPr>
        <p:spPr>
          <a:xfrm>
            <a:off x="6413339" y="3238419"/>
            <a:ext cx="4736981" cy="914377"/>
          </a:xfrm>
          <a:prstGeom prst="rect">
            <a:avLst/>
          </a:prstGeom>
          <a:noFill/>
        </p:spPr>
        <p:txBody>
          <a:bodyPr wrap="square" anchor="t" lIns="0" rIns="0" tIns="0" bIns="0">
            <a:spAutoFit/>
          </a:bodyPr>
          <a:lstStyle/>
          <a:p>
            <a:pPr algn="l">
              <a:lnSpc>
                <a:spcPct val="125000"/>
              </a:lnSpc>
            </a:pPr>
            <a:r>
              <a:rPr sz="1500" b="0">
                <a:solidFill>
                  <a:srgbClr val="454A63"/>
                </a:solidFill>
                <a:latin typeface="Arial"/>
              </a:rPr>
              <a:t>Eligibility is checked by hand, rules get bent, and students don’t learn why they were rejected.</a:t>
            </a:r>
          </a:p>
        </p:txBody>
      </p:sp>
      <p:sp>
        <p:nvSpPr>
          <p:cNvPr id="10" name="Rounded Rectangle 9"/>
          <p:cNvSpPr/>
          <p:nvPr/>
        </p:nvSpPr>
        <p:spPr>
          <a:xfrm>
            <a:off x="812779" y="4317892"/>
            <a:ext cx="5194170" cy="1523961"/>
          </a:xfrm>
          <a:prstGeom prst="roundRect">
            <a:avLst>
              <a:gd name="adj" fmla="val 8333"/>
            </a:avLst>
          </a:prstGeom>
          <a:solidFill>
            <a:srgbClr val="FFFFFF"/>
          </a:solidFill>
          <a:ln w="9525">
            <a:solidFill>
              <a:srgbClr val="E2D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1373" y="4546486"/>
            <a:ext cx="4736981" cy="380990"/>
          </a:xfrm>
          <a:prstGeom prst="rect">
            <a:avLst/>
          </a:prstGeom>
          <a:noFill/>
        </p:spPr>
        <p:txBody>
          <a:bodyPr wrap="square" anchor="t" lIns="0" rIns="0" tIns="0" bIns="0">
            <a:spAutoFit/>
          </a:bodyPr>
          <a:lstStyle/>
          <a:p>
            <a:pPr algn="l">
              <a:lnSpc>
                <a:spcPct val="115000"/>
              </a:lnSpc>
            </a:pPr>
            <a:r>
              <a:rPr sz="2000" b="1">
                <a:solidFill>
                  <a:srgbClr val="15133A"/>
                </a:solidFill>
                <a:latin typeface="Arial"/>
              </a:rPr>
              <a:t>Certificates can be bought</a:t>
            </a:r>
          </a:p>
        </p:txBody>
      </p:sp>
      <p:sp>
        <p:nvSpPr>
          <p:cNvPr id="12" name="TextBox 11"/>
          <p:cNvSpPr txBox="1"/>
          <p:nvPr/>
        </p:nvSpPr>
        <p:spPr>
          <a:xfrm>
            <a:off x="1041373" y="4952876"/>
            <a:ext cx="4736981" cy="914377"/>
          </a:xfrm>
          <a:prstGeom prst="rect">
            <a:avLst/>
          </a:prstGeom>
          <a:noFill/>
        </p:spPr>
        <p:txBody>
          <a:bodyPr wrap="square" anchor="t" lIns="0" rIns="0" tIns="0" bIns="0">
            <a:spAutoFit/>
          </a:bodyPr>
          <a:lstStyle/>
          <a:p>
            <a:pPr algn="l">
              <a:lnSpc>
                <a:spcPct val="125000"/>
              </a:lnSpc>
            </a:pPr>
            <a:r>
              <a:rPr sz="1500" b="0">
                <a:solidFill>
                  <a:srgbClr val="454A63"/>
                </a:solidFill>
                <a:latin typeface="Arial"/>
              </a:rPr>
              <a:t>A friend can “verify” your skills. Nothing stops collusion.</a:t>
            </a:r>
          </a:p>
        </p:txBody>
      </p:sp>
      <p:sp>
        <p:nvSpPr>
          <p:cNvPr id="13" name="Rounded Rectangle 12"/>
          <p:cNvSpPr/>
          <p:nvPr/>
        </p:nvSpPr>
        <p:spPr>
          <a:xfrm>
            <a:off x="6184745" y="4317892"/>
            <a:ext cx="5194170" cy="1523961"/>
          </a:xfrm>
          <a:prstGeom prst="roundRect">
            <a:avLst>
              <a:gd name="adj" fmla="val 8333"/>
            </a:avLst>
          </a:prstGeom>
          <a:solidFill>
            <a:srgbClr val="FFFFFF"/>
          </a:solidFill>
          <a:ln w="9525">
            <a:solidFill>
              <a:srgbClr val="E2D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3339" y="4546486"/>
            <a:ext cx="4736981" cy="380990"/>
          </a:xfrm>
          <a:prstGeom prst="rect">
            <a:avLst/>
          </a:prstGeom>
          <a:noFill/>
        </p:spPr>
        <p:txBody>
          <a:bodyPr wrap="square" anchor="t" lIns="0" rIns="0" tIns="0" bIns="0">
            <a:spAutoFit/>
          </a:bodyPr>
          <a:lstStyle/>
          <a:p>
            <a:pPr algn="l">
              <a:lnSpc>
                <a:spcPct val="115000"/>
              </a:lnSpc>
            </a:pPr>
            <a:r>
              <a:rPr sz="2000" b="1">
                <a:solidFill>
                  <a:srgbClr val="15133A"/>
                </a:solidFill>
                <a:latin typeface="Arial"/>
              </a:rPr>
              <a:t>Scams target freshers</a:t>
            </a:r>
          </a:p>
        </p:txBody>
      </p:sp>
      <p:sp>
        <p:nvSpPr>
          <p:cNvPr id="15" name="TextBox 14"/>
          <p:cNvSpPr txBox="1"/>
          <p:nvPr/>
        </p:nvSpPr>
        <p:spPr>
          <a:xfrm>
            <a:off x="6413339" y="4952876"/>
            <a:ext cx="4736981" cy="914377"/>
          </a:xfrm>
          <a:prstGeom prst="rect">
            <a:avLst/>
          </a:prstGeom>
          <a:noFill/>
        </p:spPr>
        <p:txBody>
          <a:bodyPr wrap="square" anchor="t" lIns="0" rIns="0" tIns="0" bIns="0">
            <a:spAutoFit/>
          </a:bodyPr>
          <a:lstStyle/>
          <a:p>
            <a:pPr algn="l">
              <a:lnSpc>
                <a:spcPct val="125000"/>
              </a:lnSpc>
            </a:pPr>
            <a:r>
              <a:rPr sz="1500" b="0">
                <a:solidFill>
                  <a:srgbClr val="454A63"/>
                </a:solidFill>
                <a:latin typeface="Arial"/>
              </a:rPr>
              <a:t>“Pay a registration fee, contact us on WhatsApp only” listings reach students first.</a:t>
            </a:r>
          </a:p>
        </p:txBody>
      </p:sp>
      <p:sp>
        <p:nvSpPr>
          <p:cNvPr id="16" name="TextBox 15"/>
          <p:cNvSpPr txBox="1"/>
          <p:nvPr/>
        </p:nvSpPr>
        <p:spPr>
          <a:xfrm>
            <a:off x="812779" y="6222844"/>
            <a:ext cx="10566135" cy="215894"/>
          </a:xfrm>
          <a:prstGeom prst="rect">
            <a:avLst/>
          </a:prstGeom>
          <a:noFill/>
        </p:spPr>
        <p:txBody>
          <a:bodyPr wrap="square" anchor="t" lIns="0" rIns="0" tIns="0" bIns="0">
            <a:spAutoFit/>
          </a:bodyPr>
          <a:lstStyle/>
          <a:p>
            <a:pPr algn="l">
              <a:lnSpc>
                <a:spcPct val="115000"/>
              </a:lnSpc>
            </a:pPr>
            <a:r>
              <a:rPr sz="1200" b="0">
                <a:solidFill>
                  <a:srgbClr val="7A7F96"/>
                </a:solidFill>
                <a:latin typeface="Arial"/>
              </a:rPr>
              <a:t>SprintBridge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FB"/>
        </a:solidFill>
        <a:effectLst/>
      </p:bgPr>
    </p:bg>
    <p:spTree>
      <p:nvGrpSpPr>
        <p:cNvPr id="1" name=""/>
        <p:cNvGrpSpPr/>
        <p:nvPr/>
      </p:nvGrpSpPr>
      <p:grpSpPr/>
      <p:sp>
        <p:nvSpPr>
          <p:cNvPr id="2" name="TextBox 1"/>
          <p:cNvSpPr txBox="1"/>
          <p:nvPr/>
        </p:nvSpPr>
        <p:spPr>
          <a:xfrm>
            <a:off x="812779" y="812779"/>
            <a:ext cx="10566135" cy="253993"/>
          </a:xfrm>
          <a:prstGeom prst="rect">
            <a:avLst/>
          </a:prstGeom>
          <a:noFill/>
        </p:spPr>
        <p:txBody>
          <a:bodyPr wrap="square" anchor="t" lIns="0" rIns="0" tIns="0" bIns="0">
            <a:spAutoFit/>
          </a:bodyPr>
          <a:lstStyle/>
          <a:p>
            <a:pPr algn="l">
              <a:lnSpc>
                <a:spcPct val="115000"/>
              </a:lnSpc>
            </a:pPr>
            <a:r>
              <a:rPr sz="1400" b="1">
                <a:solidFill>
                  <a:srgbClr val="533AFD"/>
                </a:solidFill>
                <a:latin typeface="Arial"/>
              </a:rPr>
              <a:t>THE SOLUTION</a:t>
            </a:r>
          </a:p>
        </p:txBody>
      </p:sp>
      <p:sp>
        <p:nvSpPr>
          <p:cNvPr id="3" name="TextBox 2"/>
          <p:cNvSpPr txBox="1"/>
          <p:nvPr/>
        </p:nvSpPr>
        <p:spPr>
          <a:xfrm>
            <a:off x="812779" y="1168370"/>
            <a:ext cx="10566135" cy="1079473"/>
          </a:xfrm>
          <a:prstGeom prst="rect">
            <a:avLst/>
          </a:prstGeom>
          <a:noFill/>
        </p:spPr>
        <p:txBody>
          <a:bodyPr wrap="square" anchor="t" lIns="0" rIns="0" tIns="0" bIns="0">
            <a:spAutoFit/>
          </a:bodyPr>
          <a:lstStyle/>
          <a:p>
            <a:pPr algn="l">
              <a:lnSpc>
                <a:spcPct val="100000"/>
              </a:lnSpc>
            </a:pPr>
            <a:r>
              <a:rPr sz="3600" b="1">
                <a:solidFill>
                  <a:srgbClr val="15133A"/>
                </a:solidFill>
                <a:latin typeface="Arial"/>
              </a:rPr>
              <a:t>One platform, seven users, every connection live</a:t>
            </a:r>
          </a:p>
        </p:txBody>
      </p:sp>
      <p:graphicFrame>
        <p:nvGraphicFramePr>
          <p:cNvPr id="4" name="Table 3"/>
          <p:cNvGraphicFramePr>
            <a:graphicFrameLocks noGrp="1"/>
          </p:cNvGraphicFramePr>
          <p:nvPr/>
        </p:nvGraphicFramePr>
        <p:xfrm>
          <a:off x="812779" y="2539936"/>
          <a:ext cx="10566135" cy="3200316"/>
        </p:xfrm>
        <a:graphic>
          <a:graphicData uri="http://schemas.openxmlformats.org/drawingml/2006/table">
            <a:tbl>
              <a:tblPr firstRow="1" bandRow="1">
                <a:tableStyleId>{5C22544A-7EE6-4342-B048-85BDC9FD1C3A}</a:tableStyleId>
              </a:tblPr>
              <a:tblGrid>
                <a:gridCol w="2747195"/>
                <a:gridCol w="7818940"/>
              </a:tblGrid>
              <a:tr h="457188">
                <a:tc>
                  <a:txBody>
                    <a:bodyPr/>
                    <a:lstStyle/>
                    <a:p>
                      <a:r>
                        <a:rPr sz="1400" b="1">
                          <a:solidFill>
                            <a:srgbClr val="F6F5FB"/>
                          </a:solidFill>
                          <a:latin typeface="Arial"/>
                        </a:rPr>
                        <a:t>Who</a:t>
                      </a:r>
                    </a:p>
                  </a:txBody>
                  <a:tcPr marL="114297" marR="114297" anchor="ctr">
                    <a:solidFill>
                      <a:srgbClr val="15133A"/>
                    </a:solidFill>
                  </a:tcPr>
                </a:tc>
                <a:tc>
                  <a:txBody>
                    <a:bodyPr/>
                    <a:lstStyle/>
                    <a:p>
                      <a:r>
                        <a:rPr sz="1400" b="1">
                          <a:solidFill>
                            <a:srgbClr val="F6F5FB"/>
                          </a:solidFill>
                          <a:latin typeface="Arial"/>
                        </a:rPr>
                        <a:t>What they get</a:t>
                      </a:r>
                    </a:p>
                  </a:txBody>
                  <a:tcPr marL="114297" marR="114297" anchor="ctr">
                    <a:solidFill>
                      <a:srgbClr val="15133A"/>
                    </a:solidFill>
                  </a:tcPr>
                </a:tc>
              </a:tr>
              <a:tr h="457188">
                <a:tc>
                  <a:txBody>
                    <a:bodyPr/>
                    <a:lstStyle/>
                    <a:p>
                      <a:r>
                        <a:rPr sz="1400" b="0">
                          <a:solidFill>
                            <a:srgbClr val="15133A"/>
                          </a:solidFill>
                          <a:latin typeface="Arial"/>
                        </a:rPr>
                        <a:t>Students &amp; job seekers</a:t>
                      </a:r>
                    </a:p>
                  </a:txBody>
                  <a:tcPr marL="114297" marR="114297" anchor="ctr">
                    <a:solidFill>
                      <a:srgbClr val="FFFFFF"/>
                    </a:solidFill>
                  </a:tcPr>
                </a:tc>
                <a:tc>
                  <a:txBody>
                    <a:bodyPr/>
                    <a:lstStyle/>
                    <a:p>
                      <a:r>
                        <a:rPr sz="1400" b="0">
                          <a:solidFill>
                            <a:srgbClr val="15133A"/>
                          </a:solidFill>
                          <a:latin typeface="Arial"/>
                        </a:rPr>
                        <a:t>Proven skills, fit scores, recommended openings, mentors</a:t>
                      </a:r>
                    </a:p>
                  </a:txBody>
                  <a:tcPr marL="114297" marR="114297" anchor="ctr">
                    <a:solidFill>
                      <a:srgbClr val="FFFFFF"/>
                    </a:solidFill>
                  </a:tcPr>
                </a:tc>
              </a:tr>
              <a:tr h="457188">
                <a:tc>
                  <a:txBody>
                    <a:bodyPr/>
                    <a:lstStyle/>
                    <a:p>
                      <a:r>
                        <a:rPr sz="1400" b="0">
                          <a:solidFill>
                            <a:srgbClr val="15133A"/>
                          </a:solidFill>
                          <a:latin typeface="Arial"/>
                        </a:rPr>
                        <a:t>Recruiters</a:t>
                      </a:r>
                    </a:p>
                  </a:txBody>
                  <a:tcPr marL="114297" marR="114297" anchor="ctr">
                    <a:solidFill>
                      <a:srgbClr val="EFEDF9"/>
                    </a:solidFill>
                  </a:tcPr>
                </a:tc>
                <a:tc>
                  <a:txBody>
                    <a:bodyPr/>
                    <a:lstStyle/>
                    <a:p>
                      <a:r>
                        <a:rPr sz="1400" b="0">
                          <a:solidFill>
                            <a:srgbClr val="15133A"/>
                          </a:solidFill>
                          <a:latin typeface="Arial"/>
                        </a:rPr>
                        <a:t>Public and campus listings, applicant snapshots, audited decisions</a:t>
                      </a:r>
                    </a:p>
                  </a:txBody>
                  <a:tcPr marL="114297" marR="114297" anchor="ctr">
                    <a:solidFill>
                      <a:srgbClr val="EFEDF9"/>
                    </a:solidFill>
                  </a:tcPr>
                </a:tc>
              </a:tr>
              <a:tr h="457188">
                <a:tc>
                  <a:txBody>
                    <a:bodyPr/>
                    <a:lstStyle/>
                    <a:p>
                      <a:r>
                        <a:rPr sz="1400" b="0">
                          <a:solidFill>
                            <a:srgbClr val="15133A"/>
                          </a:solidFill>
                          <a:latin typeface="Arial"/>
                        </a:rPr>
                        <a:t>Universities</a:t>
                      </a:r>
                    </a:p>
                  </a:txBody>
                  <a:tcPr marL="114297" marR="114297" anchor="ctr">
                    <a:solidFill>
                      <a:srgbClr val="FFFFFF"/>
                    </a:solidFill>
                  </a:tcPr>
                </a:tc>
                <a:tc>
                  <a:txBody>
                    <a:bodyPr/>
                    <a:lstStyle/>
                    <a:p>
                      <a:r>
                        <a:rPr sz="1400" b="0">
                          <a:solidFill>
                            <a:srgbClr val="15133A"/>
                          </a:solidFill>
                          <a:latin typeface="Arial"/>
                        </a:rPr>
                        <a:t>Roster import, campus drives with enforced eligibility, placement report</a:t>
                      </a:r>
                    </a:p>
                  </a:txBody>
                  <a:tcPr marL="114297" marR="114297" anchor="ctr">
                    <a:solidFill>
                      <a:srgbClr val="FFFFFF"/>
                    </a:solidFill>
                  </a:tcPr>
                </a:tc>
              </a:tr>
              <a:tr h="457188">
                <a:tc>
                  <a:txBody>
                    <a:bodyPr/>
                    <a:lstStyle/>
                    <a:p>
                      <a:r>
                        <a:rPr sz="1400" b="0">
                          <a:solidFill>
                            <a:srgbClr val="15133A"/>
                          </a:solidFill>
                          <a:latin typeface="Arial"/>
                        </a:rPr>
                        <a:t>Mentors</a:t>
                      </a:r>
                    </a:p>
                  </a:txBody>
                  <a:tcPr marL="114297" marR="114297" anchor="ctr">
                    <a:solidFill>
                      <a:srgbClr val="EFEDF9"/>
                    </a:solidFill>
                  </a:tcPr>
                </a:tc>
                <a:tc>
                  <a:txBody>
                    <a:bodyPr/>
                    <a:lstStyle/>
                    <a:p>
                      <a:r>
                        <a:rPr sz="1400" b="0">
                          <a:solidFill>
                            <a:srgbClr val="15133A"/>
                          </a:solidFill>
                          <a:latin typeface="Arial"/>
                        </a:rPr>
                        <a:t>Paid sessions in escrow, independent skill verification</a:t>
                      </a:r>
                    </a:p>
                  </a:txBody>
                  <a:tcPr marL="114297" marR="114297" anchor="ctr">
                    <a:solidFill>
                      <a:srgbClr val="EFEDF9"/>
                    </a:solidFill>
                  </a:tcPr>
                </a:tc>
              </a:tr>
              <a:tr h="457188">
                <a:tc>
                  <a:txBody>
                    <a:bodyPr/>
                    <a:lstStyle/>
                    <a:p>
                      <a:r>
                        <a:rPr sz="1400" b="0">
                          <a:solidFill>
                            <a:srgbClr val="15133A"/>
                          </a:solidFill>
                          <a:latin typeface="Arial"/>
                        </a:rPr>
                        <a:t>Founders</a:t>
                      </a:r>
                    </a:p>
                  </a:txBody>
                  <a:tcPr marL="114297" marR="114297" anchor="ctr">
                    <a:solidFill>
                      <a:srgbClr val="FFFFFF"/>
                    </a:solidFill>
                  </a:tcPr>
                </a:tc>
                <a:tc>
                  <a:txBody>
                    <a:bodyPr/>
                    <a:lstStyle/>
                    <a:p>
                      <a:r>
                        <a:rPr sz="1400" b="0">
                          <a:solidFill>
                            <a:srgbClr val="15133A"/>
                          </a:solidFill>
                          <a:latin typeface="Arial"/>
                        </a:rPr>
                        <a:t>Ventures with a public teaser and an NDA-protected plan</a:t>
                      </a:r>
                    </a:p>
                  </a:txBody>
                  <a:tcPr marL="114297" marR="114297" anchor="ctr">
                    <a:solidFill>
                      <a:srgbClr val="FFFFFF"/>
                    </a:solidFill>
                  </a:tcPr>
                </a:tc>
              </a:tr>
              <a:tr h="457188">
                <a:tc>
                  <a:txBody>
                    <a:bodyPr/>
                    <a:lstStyle/>
                    <a:p>
                      <a:r>
                        <a:rPr sz="1400" b="0">
                          <a:solidFill>
                            <a:srgbClr val="15133A"/>
                          </a:solidFill>
                          <a:latin typeface="Arial"/>
                        </a:rPr>
                        <a:t>Operators</a:t>
                      </a:r>
                    </a:p>
                  </a:txBody>
                  <a:tcPr marL="114297" marR="114297" anchor="ctr">
                    <a:solidFill>
                      <a:srgbClr val="EFEDF9"/>
                    </a:solidFill>
                  </a:tcPr>
                </a:tc>
                <a:tc>
                  <a:txBody>
                    <a:bodyPr/>
                    <a:lstStyle/>
                    <a:p>
                      <a:r>
                        <a:rPr sz="1400" b="0">
                          <a:solidFill>
                            <a:srgbClr val="15133A"/>
                          </a:solidFill>
                          <a:latin typeface="Arial"/>
                        </a:rPr>
                        <a:t>Role approvals, scam reports, disputes, audit log</a:t>
                      </a:r>
                    </a:p>
                  </a:txBody>
                  <a:tcPr marL="114297" marR="114297" anchor="ctr">
                    <a:solidFill>
                      <a:srgbClr val="EFEDF9"/>
                    </a:solidFill>
                  </a:tcPr>
                </a:tc>
              </a:tr>
            </a:tbl>
          </a:graphicData>
        </a:graphic>
      </p:graphicFrame>
      <p:sp>
        <p:nvSpPr>
          <p:cNvPr id="5" name="TextBox 4"/>
          <p:cNvSpPr txBox="1"/>
          <p:nvPr/>
        </p:nvSpPr>
        <p:spPr>
          <a:xfrm>
            <a:off x="812779" y="6222844"/>
            <a:ext cx="10566135" cy="215894"/>
          </a:xfrm>
          <a:prstGeom prst="rect">
            <a:avLst/>
          </a:prstGeom>
          <a:noFill/>
        </p:spPr>
        <p:txBody>
          <a:bodyPr wrap="square" anchor="t" lIns="0" rIns="0" tIns="0" bIns="0">
            <a:spAutoFit/>
          </a:bodyPr>
          <a:lstStyle/>
          <a:p>
            <a:pPr algn="l">
              <a:lnSpc>
                <a:spcPct val="115000"/>
              </a:lnSpc>
            </a:pPr>
            <a:r>
              <a:rPr sz="1200" b="0">
                <a:solidFill>
                  <a:srgbClr val="7A7F96"/>
                </a:solidFill>
                <a:latin typeface="Arial"/>
              </a:rPr>
              <a:t>SprintBridge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FB"/>
        </a:solidFill>
        <a:effectLst/>
      </p:bgPr>
    </p:bg>
    <p:spTree>
      <p:nvGrpSpPr>
        <p:cNvPr id="1" name=""/>
        <p:cNvGrpSpPr/>
        <p:nvPr/>
      </p:nvGrpSpPr>
      <p:grpSpPr/>
      <p:sp>
        <p:nvSpPr>
          <p:cNvPr id="2" name="TextBox 1"/>
          <p:cNvSpPr txBox="1"/>
          <p:nvPr/>
        </p:nvSpPr>
        <p:spPr>
          <a:xfrm>
            <a:off x="812779" y="812779"/>
            <a:ext cx="10566135" cy="253993"/>
          </a:xfrm>
          <a:prstGeom prst="rect">
            <a:avLst/>
          </a:prstGeom>
          <a:noFill/>
        </p:spPr>
        <p:txBody>
          <a:bodyPr wrap="square" anchor="t" lIns="0" rIns="0" tIns="0" bIns="0">
            <a:spAutoFit/>
          </a:bodyPr>
          <a:lstStyle/>
          <a:p>
            <a:pPr algn="l">
              <a:lnSpc>
                <a:spcPct val="115000"/>
              </a:lnSpc>
            </a:pPr>
            <a:r>
              <a:rPr sz="1400" b="1">
                <a:solidFill>
                  <a:srgbClr val="533AFD"/>
                </a:solidFill>
                <a:latin typeface="Arial"/>
              </a:rPr>
              <a:t>WHO GETS WHICH ROLE</a:t>
            </a:r>
          </a:p>
        </p:txBody>
      </p:sp>
      <p:sp>
        <p:nvSpPr>
          <p:cNvPr id="3" name="TextBox 2"/>
          <p:cNvSpPr txBox="1"/>
          <p:nvPr/>
        </p:nvSpPr>
        <p:spPr>
          <a:xfrm>
            <a:off x="812779" y="1168370"/>
            <a:ext cx="10566135" cy="1079473"/>
          </a:xfrm>
          <a:prstGeom prst="rect">
            <a:avLst/>
          </a:prstGeom>
          <a:noFill/>
        </p:spPr>
        <p:txBody>
          <a:bodyPr wrap="square" anchor="t" lIns="0" rIns="0" tIns="0" bIns="0">
            <a:spAutoFit/>
          </a:bodyPr>
          <a:lstStyle/>
          <a:p>
            <a:pPr algn="l">
              <a:lnSpc>
                <a:spcPct val="100000"/>
              </a:lnSpc>
            </a:pPr>
            <a:r>
              <a:rPr sz="3600" b="1">
                <a:solidFill>
                  <a:srgbClr val="15133A"/>
                </a:solidFill>
                <a:latin typeface="Arial"/>
              </a:rPr>
              <a:t>Anyone can sign up. Nobody can make themselves a recruiter.</a:t>
            </a:r>
          </a:p>
        </p:txBody>
      </p:sp>
      <p:sp>
        <p:nvSpPr>
          <p:cNvPr id="4" name="Rounded Rectangle 3"/>
          <p:cNvSpPr/>
          <p:nvPr/>
        </p:nvSpPr>
        <p:spPr>
          <a:xfrm>
            <a:off x="812779" y="2476438"/>
            <a:ext cx="10566135" cy="1904952"/>
          </a:xfrm>
          <a:prstGeom prst="roundRect">
            <a:avLst>
              <a:gd name="adj" fmla="val 6666"/>
            </a:avLst>
          </a:prstGeom>
          <a:solidFill>
            <a:srgbClr val="FFFFFF"/>
          </a:solidFill>
          <a:ln w="9525">
            <a:solidFill>
              <a:srgbClr val="E2D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how-roles-are-assigned.png"/>
          <p:cNvPicPr>
            <a:picLocks noChangeAspect="1"/>
          </p:cNvPicPr>
          <p:nvPr/>
        </p:nvPicPr>
        <p:blipFill>
          <a:blip r:embed="rId3"/>
          <a:stretch>
            <a:fillRect/>
          </a:stretch>
        </p:blipFill>
        <p:spPr>
          <a:xfrm>
            <a:off x="1015974" y="2615496"/>
            <a:ext cx="10159746" cy="1626835"/>
          </a:xfrm>
          <a:prstGeom prst="rect">
            <a:avLst/>
          </a:prstGeom>
        </p:spPr>
      </p:pic>
      <p:sp>
        <p:nvSpPr>
          <p:cNvPr id="6" name="TextBox 5"/>
          <p:cNvSpPr txBox="1"/>
          <p:nvPr/>
        </p:nvSpPr>
        <p:spPr>
          <a:xfrm>
            <a:off x="812779" y="4635384"/>
            <a:ext cx="3365415" cy="317492"/>
          </a:xfrm>
          <a:prstGeom prst="rect">
            <a:avLst/>
          </a:prstGeom>
          <a:noFill/>
        </p:spPr>
        <p:txBody>
          <a:bodyPr wrap="square" anchor="t" lIns="0" rIns="0" tIns="0" bIns="0">
            <a:spAutoFit/>
          </a:bodyPr>
          <a:lstStyle/>
          <a:p>
            <a:pPr algn="l">
              <a:lnSpc>
                <a:spcPct val="115000"/>
              </a:lnSpc>
            </a:pPr>
            <a:r>
              <a:rPr sz="1800" b="1">
                <a:solidFill>
                  <a:srgbClr val="15133A"/>
                </a:solidFill>
                <a:latin typeface="Arial"/>
              </a:rPr>
              <a:t>Students</a:t>
            </a:r>
          </a:p>
        </p:txBody>
      </p:sp>
      <p:sp>
        <p:nvSpPr>
          <p:cNvPr id="7" name="TextBox 6"/>
          <p:cNvSpPr txBox="1"/>
          <p:nvPr/>
        </p:nvSpPr>
        <p:spPr>
          <a:xfrm>
            <a:off x="812779" y="5016374"/>
            <a:ext cx="3365415" cy="761980"/>
          </a:xfrm>
          <a:prstGeom prst="rect">
            <a:avLst/>
          </a:prstGeom>
          <a:noFill/>
        </p:spPr>
        <p:txBody>
          <a:bodyPr wrap="square" anchor="t" lIns="0" rIns="0" tIns="0" bIns="0">
            <a:spAutoFit/>
          </a:bodyPr>
          <a:lstStyle/>
          <a:p>
            <a:pPr algn="l">
              <a:lnSpc>
                <a:spcPct val="125000"/>
              </a:lnSpc>
            </a:pPr>
            <a:r>
              <a:rPr sz="1400" b="0">
                <a:solidFill>
                  <a:srgbClr val="454A63"/>
                </a:solidFill>
                <a:latin typeface="Arial"/>
              </a:rPr>
              <a:t>Linked when their university’s roster has their confirmed email.</a:t>
            </a:r>
          </a:p>
        </p:txBody>
      </p:sp>
      <p:sp>
        <p:nvSpPr>
          <p:cNvPr id="8" name="TextBox 7"/>
          <p:cNvSpPr txBox="1"/>
          <p:nvPr/>
        </p:nvSpPr>
        <p:spPr>
          <a:xfrm>
            <a:off x="4406789" y="4635384"/>
            <a:ext cx="3365415" cy="317492"/>
          </a:xfrm>
          <a:prstGeom prst="rect">
            <a:avLst/>
          </a:prstGeom>
          <a:noFill/>
        </p:spPr>
        <p:txBody>
          <a:bodyPr wrap="square" anchor="t" lIns="0" rIns="0" tIns="0" bIns="0">
            <a:spAutoFit/>
          </a:bodyPr>
          <a:lstStyle/>
          <a:p>
            <a:pPr algn="l">
              <a:lnSpc>
                <a:spcPct val="115000"/>
              </a:lnSpc>
            </a:pPr>
            <a:r>
              <a:rPr sz="1800" b="1">
                <a:solidFill>
                  <a:srgbClr val="15133A"/>
                </a:solidFill>
                <a:latin typeface="Arial"/>
              </a:rPr>
              <a:t>Recruiters, colleges, mentors</a:t>
            </a:r>
          </a:p>
        </p:txBody>
      </p:sp>
      <p:sp>
        <p:nvSpPr>
          <p:cNvPr id="9" name="TextBox 8"/>
          <p:cNvSpPr txBox="1"/>
          <p:nvPr/>
        </p:nvSpPr>
        <p:spPr>
          <a:xfrm>
            <a:off x="4406789" y="5016374"/>
            <a:ext cx="3365415" cy="761980"/>
          </a:xfrm>
          <a:prstGeom prst="rect">
            <a:avLst/>
          </a:prstGeom>
          <a:noFill/>
        </p:spPr>
        <p:txBody>
          <a:bodyPr wrap="square" anchor="t" lIns="0" rIns="0" tIns="0" bIns="0">
            <a:spAutoFit/>
          </a:bodyPr>
          <a:lstStyle/>
          <a:p>
            <a:pPr algn="l">
              <a:lnSpc>
                <a:spcPct val="125000"/>
              </a:lnSpc>
            </a:pPr>
            <a:r>
              <a:rPr sz="1400" b="0">
                <a:solidFill>
                  <a:srgbClr val="454A63"/>
                </a:solidFill>
                <a:latin typeface="Arial"/>
              </a:rPr>
              <a:t>Apply in the app; an operator approves in one audited step.</a:t>
            </a:r>
          </a:p>
        </p:txBody>
      </p:sp>
      <p:sp>
        <p:nvSpPr>
          <p:cNvPr id="10" name="TextBox 9"/>
          <p:cNvSpPr txBox="1"/>
          <p:nvPr/>
        </p:nvSpPr>
        <p:spPr>
          <a:xfrm>
            <a:off x="8000799" y="4635384"/>
            <a:ext cx="3365415" cy="317492"/>
          </a:xfrm>
          <a:prstGeom prst="rect">
            <a:avLst/>
          </a:prstGeom>
          <a:noFill/>
        </p:spPr>
        <p:txBody>
          <a:bodyPr wrap="square" anchor="t" lIns="0" rIns="0" tIns="0" bIns="0">
            <a:spAutoFit/>
          </a:bodyPr>
          <a:lstStyle/>
          <a:p>
            <a:pPr algn="l">
              <a:lnSpc>
                <a:spcPct val="115000"/>
              </a:lnSpc>
            </a:pPr>
            <a:r>
              <a:rPr sz="1800" b="1">
                <a:solidFill>
                  <a:srgbClr val="15133A"/>
                </a:solidFill>
                <a:latin typeface="Arial"/>
              </a:rPr>
              <a:t>Founders</a:t>
            </a:r>
          </a:p>
        </p:txBody>
      </p:sp>
      <p:sp>
        <p:nvSpPr>
          <p:cNvPr id="11" name="TextBox 10"/>
          <p:cNvSpPr txBox="1"/>
          <p:nvPr/>
        </p:nvSpPr>
        <p:spPr>
          <a:xfrm>
            <a:off x="8000799" y="5016374"/>
            <a:ext cx="3365415" cy="761980"/>
          </a:xfrm>
          <a:prstGeom prst="rect">
            <a:avLst/>
          </a:prstGeom>
          <a:noFill/>
        </p:spPr>
        <p:txBody>
          <a:bodyPr wrap="square" anchor="t" lIns="0" rIns="0" tIns="0" bIns="0">
            <a:spAutoFit/>
          </a:bodyPr>
          <a:lstStyle/>
          <a:p>
            <a:pPr algn="l">
              <a:lnSpc>
                <a:spcPct val="125000"/>
              </a:lnSpc>
            </a:pPr>
            <a:r>
              <a:rPr sz="1400" b="0">
                <a:solidFill>
                  <a:srgbClr val="454A63"/>
                </a:solidFill>
                <a:latin typeface="Arial"/>
              </a:rPr>
              <a:t>No approval: post a venture and build a team.</a:t>
            </a:r>
          </a:p>
        </p:txBody>
      </p:sp>
      <p:sp>
        <p:nvSpPr>
          <p:cNvPr id="12" name="TextBox 11"/>
          <p:cNvSpPr txBox="1"/>
          <p:nvPr/>
        </p:nvSpPr>
        <p:spPr>
          <a:xfrm>
            <a:off x="812779" y="6222844"/>
            <a:ext cx="10566135" cy="215894"/>
          </a:xfrm>
          <a:prstGeom prst="rect">
            <a:avLst/>
          </a:prstGeom>
          <a:noFill/>
        </p:spPr>
        <p:txBody>
          <a:bodyPr wrap="square" anchor="t" lIns="0" rIns="0" tIns="0" bIns="0">
            <a:spAutoFit/>
          </a:bodyPr>
          <a:lstStyle/>
          <a:p>
            <a:pPr algn="l">
              <a:lnSpc>
                <a:spcPct val="115000"/>
              </a:lnSpc>
            </a:pPr>
            <a:r>
              <a:rPr sz="1200" b="0">
                <a:solidFill>
                  <a:srgbClr val="7A7F96"/>
                </a:solidFill>
                <a:latin typeface="Arial"/>
              </a:rPr>
              <a:t>SprintBridge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5FB"/>
        </a:solidFill>
        <a:effectLst/>
      </p:bgPr>
    </p:bg>
    <p:spTree>
      <p:nvGrpSpPr>
        <p:cNvPr id="1" name=""/>
        <p:cNvGrpSpPr/>
        <p:nvPr/>
      </p:nvGrpSpPr>
      <p:grpSpPr/>
      <p:sp>
        <p:nvSpPr>
          <p:cNvPr id="2" name="Rounded Rectangle 1"/>
          <p:cNvSpPr/>
          <p:nvPr/>
        </p:nvSpPr>
        <p:spPr>
          <a:xfrm>
            <a:off x="812779" y="812779"/>
            <a:ext cx="5079873" cy="5029074"/>
          </a:xfrm>
          <a:prstGeom prst="roundRect">
            <a:avLst>
              <a:gd name="adj" fmla="val 2525"/>
            </a:avLst>
          </a:prstGeom>
          <a:solidFill>
            <a:srgbClr val="FFFFFF"/>
          </a:solidFill>
          <a:ln w="9525">
            <a:solidFill>
              <a:srgbClr val="E2D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02-student.png"/>
          <p:cNvPicPr>
            <a:picLocks noChangeAspect="1"/>
          </p:cNvPicPr>
          <p:nvPr/>
        </p:nvPicPr>
        <p:blipFill>
          <a:blip r:embed="rId3"/>
          <a:stretch>
            <a:fillRect/>
          </a:stretch>
        </p:blipFill>
        <p:spPr>
          <a:xfrm>
            <a:off x="965175" y="970703"/>
            <a:ext cx="4775080" cy="4713227"/>
          </a:xfrm>
          <a:prstGeom prst="rect">
            <a:avLst/>
          </a:prstGeom>
        </p:spPr>
      </p:pic>
      <p:sp>
        <p:nvSpPr>
          <p:cNvPr id="4" name="TextBox 3"/>
          <p:cNvSpPr txBox="1"/>
          <p:nvPr/>
        </p:nvSpPr>
        <p:spPr>
          <a:xfrm>
            <a:off x="6349841" y="1587460"/>
            <a:ext cx="5029074" cy="253993"/>
          </a:xfrm>
          <a:prstGeom prst="rect">
            <a:avLst/>
          </a:prstGeom>
          <a:noFill/>
        </p:spPr>
        <p:txBody>
          <a:bodyPr wrap="square" anchor="t" lIns="0" rIns="0" tIns="0" bIns="0">
            <a:spAutoFit/>
          </a:bodyPr>
          <a:lstStyle/>
          <a:p>
            <a:pPr algn="l">
              <a:lnSpc>
                <a:spcPct val="115000"/>
              </a:lnSpc>
            </a:pPr>
            <a:r>
              <a:rPr sz="1400" b="1">
                <a:solidFill>
                  <a:srgbClr val="533AFD"/>
                </a:solidFill>
                <a:latin typeface="Arial"/>
              </a:rPr>
              <a:t>THE STUDENT JOURNEY</a:t>
            </a:r>
          </a:p>
        </p:txBody>
      </p:sp>
      <p:sp>
        <p:nvSpPr>
          <p:cNvPr id="5" name="TextBox 4"/>
          <p:cNvSpPr txBox="1"/>
          <p:nvPr/>
        </p:nvSpPr>
        <p:spPr>
          <a:xfrm>
            <a:off x="6349841" y="1968450"/>
            <a:ext cx="5029074" cy="1079473"/>
          </a:xfrm>
          <a:prstGeom prst="rect">
            <a:avLst/>
          </a:prstGeom>
          <a:noFill/>
        </p:spPr>
        <p:txBody>
          <a:bodyPr wrap="square" anchor="t" lIns="0" rIns="0" tIns="0" bIns="0">
            <a:spAutoFit/>
          </a:bodyPr>
          <a:lstStyle/>
          <a:p>
            <a:pPr algn="l">
              <a:lnSpc>
                <a:spcPct val="100000"/>
              </a:lnSpc>
            </a:pPr>
            <a:r>
              <a:rPr sz="3600" b="1">
                <a:solidFill>
                  <a:srgbClr val="15133A"/>
                </a:solidFill>
                <a:latin typeface="Arial"/>
              </a:rPr>
              <a:t>From sign-up to a verified badge</a:t>
            </a:r>
          </a:p>
        </p:txBody>
      </p:sp>
      <p:sp>
        <p:nvSpPr>
          <p:cNvPr id="6" name="TextBox 5"/>
          <p:cNvSpPr txBox="1"/>
          <p:nvPr/>
        </p:nvSpPr>
        <p:spPr>
          <a:xfrm>
            <a:off x="6349841" y="3301917"/>
            <a:ext cx="5029074" cy="2095447"/>
          </a:xfrm>
          <a:prstGeom prst="rect">
            <a:avLst/>
          </a:prstGeom>
          <a:noFill/>
        </p:spPr>
        <p:txBody>
          <a:bodyPr wrap="square" anchor="t" lIns="0" rIns="0" tIns="0" bIns="0">
            <a:spAutoFit/>
          </a:bodyPr>
          <a:lstStyle/>
          <a:p>
            <a:pPr algn="l">
              <a:lnSpc>
                <a:spcPct val="130000"/>
              </a:lnSpc>
              <a:spcAft>
                <a:spcPts val="600"/>
              </a:spcAft>
            </a:pPr>
            <a:r>
              <a:rPr sz="1500" b="0">
                <a:solidFill>
                  <a:srgbClr val="454A63"/>
                </a:solidFill>
                <a:latin typeface="Arial"/>
              </a:rPr>
              <a:t>•  Resume becomes skills with the lines that prove them</a:t>
            </a:r>
          </a:p>
          <a:p>
            <a:pPr algn="l">
              <a:lnSpc>
                <a:spcPct val="130000"/>
              </a:lnSpc>
              <a:spcAft>
                <a:spcPts val="600"/>
              </a:spcAft>
            </a:pPr>
            <a:r>
              <a:rPr sz="1500" b="0">
                <a:solidFill>
                  <a:srgbClr val="454A63"/>
                </a:solidFill>
                <a:latin typeface="Arial"/>
              </a:rPr>
              <a:t>•  Openings ranked by fit, with what’s missing</a:t>
            </a:r>
          </a:p>
          <a:p>
            <a:pPr algn="l">
              <a:lnSpc>
                <a:spcPct val="130000"/>
              </a:lnSpc>
              <a:spcAft>
                <a:spcPts val="600"/>
              </a:spcAft>
            </a:pPr>
            <a:r>
              <a:rPr sz="1500" b="0">
                <a:solidFill>
                  <a:srgbClr val="454A63"/>
                </a:solidFill>
                <a:latin typeface="Arial"/>
              </a:rPr>
              <a:t>•  Campus eligibility says exactly why</a:t>
            </a:r>
          </a:p>
          <a:p>
            <a:pPr algn="l">
              <a:lnSpc>
                <a:spcPct val="130000"/>
              </a:lnSpc>
              <a:spcAft>
                <a:spcPts val="600"/>
              </a:spcAft>
            </a:pPr>
            <a:r>
              <a:rPr sz="1500" b="0">
                <a:solidFill>
                  <a:srgbClr val="454A63"/>
                </a:solidFill>
                <a:latin typeface="Arial"/>
              </a:rPr>
              <a:t>•  A gap leads straight to the right mentor</a:t>
            </a:r>
          </a:p>
        </p:txBody>
      </p:sp>
      <p:sp>
        <p:nvSpPr>
          <p:cNvPr id="7" name="TextBox 6"/>
          <p:cNvSpPr txBox="1"/>
          <p:nvPr/>
        </p:nvSpPr>
        <p:spPr>
          <a:xfrm>
            <a:off x="812779" y="6222844"/>
            <a:ext cx="10566135" cy="215894"/>
          </a:xfrm>
          <a:prstGeom prst="rect">
            <a:avLst/>
          </a:prstGeom>
          <a:noFill/>
        </p:spPr>
        <p:txBody>
          <a:bodyPr wrap="square" anchor="t" lIns="0" rIns="0" tIns="0" bIns="0">
            <a:spAutoFit/>
          </a:bodyPr>
          <a:lstStyle/>
          <a:p>
            <a:pPr algn="l">
              <a:lnSpc>
                <a:spcPct val="115000"/>
              </a:lnSpc>
            </a:pPr>
            <a:r>
              <a:rPr sz="1200" b="0">
                <a:solidFill>
                  <a:srgbClr val="7A7F96"/>
                </a:solidFill>
                <a:latin typeface="Arial"/>
              </a:rPr>
              <a:t>SprintBridge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5133A"/>
        </a:solidFill>
        <a:effectLst/>
      </p:bgPr>
    </p:bg>
    <p:spTree>
      <p:nvGrpSpPr>
        <p:cNvPr id="1" name=""/>
        <p:cNvGrpSpPr/>
        <p:nvPr/>
      </p:nvGrpSpPr>
      <p:grpSpPr/>
      <p:sp>
        <p:nvSpPr>
          <p:cNvPr id="2" name="TextBox 1"/>
          <p:cNvSpPr txBox="1"/>
          <p:nvPr/>
        </p:nvSpPr>
        <p:spPr>
          <a:xfrm>
            <a:off x="812779" y="812779"/>
            <a:ext cx="10566135" cy="253993"/>
          </a:xfrm>
          <a:prstGeom prst="rect">
            <a:avLst/>
          </a:prstGeom>
          <a:noFill/>
        </p:spPr>
        <p:txBody>
          <a:bodyPr wrap="square" anchor="t" lIns="0" rIns="0" tIns="0" bIns="0">
            <a:spAutoFit/>
          </a:bodyPr>
          <a:lstStyle/>
          <a:p>
            <a:pPr algn="l">
              <a:lnSpc>
                <a:spcPct val="115000"/>
              </a:lnSpc>
            </a:pPr>
            <a:r>
              <a:rPr sz="1400" b="1">
                <a:solidFill>
                  <a:srgbClr val="B9B2FF"/>
                </a:solidFill>
                <a:latin typeface="Arial"/>
              </a:rPr>
              <a:t>THE SKILL ENGINE</a:t>
            </a:r>
          </a:p>
        </p:txBody>
      </p:sp>
      <p:sp>
        <p:nvSpPr>
          <p:cNvPr id="3" name="TextBox 2"/>
          <p:cNvSpPr txBox="1"/>
          <p:nvPr/>
        </p:nvSpPr>
        <p:spPr>
          <a:xfrm>
            <a:off x="812779" y="1168370"/>
            <a:ext cx="10566135" cy="571485"/>
          </a:xfrm>
          <a:prstGeom prst="rect">
            <a:avLst/>
          </a:prstGeom>
          <a:noFill/>
        </p:spPr>
        <p:txBody>
          <a:bodyPr wrap="square" anchor="t" lIns="0" rIns="0" tIns="0" bIns="0">
            <a:spAutoFit/>
          </a:bodyPr>
          <a:lstStyle/>
          <a:p>
            <a:pPr algn="l">
              <a:lnSpc>
                <a:spcPct val="100000"/>
              </a:lnSpc>
            </a:pPr>
            <a:r>
              <a:rPr sz="3600" b="1">
                <a:solidFill>
                  <a:srgbClr val="F6F5FB"/>
                </a:solidFill>
                <a:latin typeface="Arial"/>
              </a:rPr>
              <a:t>The AI reads. Python scores.</a:t>
            </a:r>
          </a:p>
        </p:txBody>
      </p:sp>
      <p:sp>
        <p:nvSpPr>
          <p:cNvPr id="4" name="Rounded Rectangle 3"/>
          <p:cNvSpPr/>
          <p:nvPr/>
        </p:nvSpPr>
        <p:spPr>
          <a:xfrm>
            <a:off x="812779" y="2158946"/>
            <a:ext cx="2546286" cy="2412939"/>
          </a:xfrm>
          <a:prstGeom prst="roundRect">
            <a:avLst>
              <a:gd name="adj" fmla="val 5263"/>
            </a:avLst>
          </a:prstGeom>
          <a:solidFill>
            <a:srgbClr val="221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1373" y="2387540"/>
            <a:ext cx="2089097" cy="355591"/>
          </a:xfrm>
          <a:prstGeom prst="rect">
            <a:avLst/>
          </a:prstGeom>
          <a:noFill/>
        </p:spPr>
        <p:txBody>
          <a:bodyPr wrap="square" anchor="t" lIns="0" rIns="0" tIns="0" bIns="0">
            <a:spAutoFit/>
          </a:bodyPr>
          <a:lstStyle/>
          <a:p>
            <a:pPr algn="l">
              <a:lnSpc>
                <a:spcPct val="115000"/>
              </a:lnSpc>
            </a:pPr>
            <a:r>
              <a:rPr sz="2200" b="1">
                <a:solidFill>
                  <a:srgbClr val="F2A93B"/>
                </a:solidFill>
                <a:latin typeface="Arial"/>
              </a:rPr>
              <a:t>1</a:t>
            </a:r>
          </a:p>
        </p:txBody>
      </p:sp>
      <p:sp>
        <p:nvSpPr>
          <p:cNvPr id="6" name="TextBox 5"/>
          <p:cNvSpPr txBox="1"/>
          <p:nvPr/>
        </p:nvSpPr>
        <p:spPr>
          <a:xfrm>
            <a:off x="1041373" y="2806629"/>
            <a:ext cx="2089097" cy="380990"/>
          </a:xfrm>
          <a:prstGeom prst="rect">
            <a:avLst/>
          </a:prstGeom>
          <a:noFill/>
        </p:spPr>
        <p:txBody>
          <a:bodyPr wrap="square" anchor="t" lIns="0" rIns="0" tIns="0" bIns="0">
            <a:spAutoFit/>
          </a:bodyPr>
          <a:lstStyle/>
          <a:p>
            <a:pPr algn="l">
              <a:lnSpc>
                <a:spcPct val="115000"/>
              </a:lnSpc>
            </a:pPr>
            <a:r>
              <a:rPr sz="1600" b="1">
                <a:solidFill>
                  <a:srgbClr val="F6F5FB"/>
                </a:solidFill>
                <a:latin typeface="Arial"/>
              </a:rPr>
              <a:t>Read the PDF</a:t>
            </a:r>
          </a:p>
        </p:txBody>
      </p:sp>
      <p:sp>
        <p:nvSpPr>
          <p:cNvPr id="7" name="TextBox 6"/>
          <p:cNvSpPr txBox="1"/>
          <p:nvPr/>
        </p:nvSpPr>
        <p:spPr>
          <a:xfrm>
            <a:off x="1041373" y="3131741"/>
            <a:ext cx="2089097" cy="1384265"/>
          </a:xfrm>
          <a:prstGeom prst="rect">
            <a:avLst/>
          </a:prstGeom>
          <a:noFill/>
        </p:spPr>
        <p:txBody>
          <a:bodyPr wrap="square" anchor="t" lIns="0" rIns="0" tIns="0" bIns="0">
            <a:spAutoFit/>
          </a:bodyPr>
          <a:lstStyle/>
          <a:p>
            <a:pPr algn="l">
              <a:lnSpc>
                <a:spcPct val="125000"/>
              </a:lnSpc>
            </a:pPr>
            <a:r>
              <a:rPr sz="1300" b="0">
                <a:solidFill>
                  <a:srgbClr val="C9C6F0"/>
                </a:solidFill>
                <a:latin typeface="Arial"/>
              </a:rPr>
              <a:t>Text layer, or OCR for scans. Two-column layouts read in order.</a:t>
            </a:r>
          </a:p>
        </p:txBody>
      </p:sp>
      <p:sp>
        <p:nvSpPr>
          <p:cNvPr id="8" name="Rounded Rectangle 7"/>
          <p:cNvSpPr/>
          <p:nvPr/>
        </p:nvSpPr>
        <p:spPr>
          <a:xfrm>
            <a:off x="3486062" y="2158946"/>
            <a:ext cx="2546286" cy="2412939"/>
          </a:xfrm>
          <a:prstGeom prst="roundRect">
            <a:avLst>
              <a:gd name="adj" fmla="val 5263"/>
            </a:avLst>
          </a:prstGeom>
          <a:solidFill>
            <a:srgbClr val="221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14657" y="2387540"/>
            <a:ext cx="2089097" cy="355591"/>
          </a:xfrm>
          <a:prstGeom prst="rect">
            <a:avLst/>
          </a:prstGeom>
          <a:noFill/>
        </p:spPr>
        <p:txBody>
          <a:bodyPr wrap="square" anchor="t" lIns="0" rIns="0" tIns="0" bIns="0">
            <a:spAutoFit/>
          </a:bodyPr>
          <a:lstStyle/>
          <a:p>
            <a:pPr algn="l">
              <a:lnSpc>
                <a:spcPct val="115000"/>
              </a:lnSpc>
            </a:pPr>
            <a:r>
              <a:rPr sz="2200" b="1">
                <a:solidFill>
                  <a:srgbClr val="F2A93B"/>
                </a:solidFill>
                <a:latin typeface="Arial"/>
              </a:rPr>
              <a:t>2</a:t>
            </a:r>
          </a:p>
        </p:txBody>
      </p:sp>
      <p:sp>
        <p:nvSpPr>
          <p:cNvPr id="10" name="TextBox 9"/>
          <p:cNvSpPr txBox="1"/>
          <p:nvPr/>
        </p:nvSpPr>
        <p:spPr>
          <a:xfrm>
            <a:off x="3714657" y="2806629"/>
            <a:ext cx="2089097" cy="380990"/>
          </a:xfrm>
          <a:prstGeom prst="rect">
            <a:avLst/>
          </a:prstGeom>
          <a:noFill/>
        </p:spPr>
        <p:txBody>
          <a:bodyPr wrap="square" anchor="t" lIns="0" rIns="0" tIns="0" bIns="0">
            <a:spAutoFit/>
          </a:bodyPr>
          <a:lstStyle/>
          <a:p>
            <a:pPr algn="l">
              <a:lnSpc>
                <a:spcPct val="115000"/>
              </a:lnSpc>
            </a:pPr>
            <a:r>
              <a:rPr sz="1600" b="1">
                <a:solidFill>
                  <a:srgbClr val="F6F5FB"/>
                </a:solidFill>
                <a:latin typeface="Arial"/>
              </a:rPr>
              <a:t>Extract with quotes</a:t>
            </a:r>
          </a:p>
        </p:txBody>
      </p:sp>
      <p:sp>
        <p:nvSpPr>
          <p:cNvPr id="11" name="TextBox 10"/>
          <p:cNvSpPr txBox="1"/>
          <p:nvPr/>
        </p:nvSpPr>
        <p:spPr>
          <a:xfrm>
            <a:off x="3714657" y="3131741"/>
            <a:ext cx="2089097" cy="1384265"/>
          </a:xfrm>
          <a:prstGeom prst="rect">
            <a:avLst/>
          </a:prstGeom>
          <a:noFill/>
        </p:spPr>
        <p:txBody>
          <a:bodyPr wrap="square" anchor="t" lIns="0" rIns="0" tIns="0" bIns="0">
            <a:spAutoFit/>
          </a:bodyPr>
          <a:lstStyle/>
          <a:p>
            <a:pPr algn="l">
              <a:lnSpc>
                <a:spcPct val="125000"/>
              </a:lnSpc>
            </a:pPr>
            <a:r>
              <a:rPr sz="1300" b="0">
                <a:solidFill>
                  <a:srgbClr val="C9C6F0"/>
                </a:solidFill>
                <a:latin typeface="Arial"/>
              </a:rPr>
              <a:t>Groq names each skill and copies the exact line. No line, no skill.</a:t>
            </a:r>
          </a:p>
        </p:txBody>
      </p:sp>
      <p:sp>
        <p:nvSpPr>
          <p:cNvPr id="12" name="Rounded Rectangle 11"/>
          <p:cNvSpPr/>
          <p:nvPr/>
        </p:nvSpPr>
        <p:spPr>
          <a:xfrm>
            <a:off x="6159346" y="2158946"/>
            <a:ext cx="2546286" cy="2412939"/>
          </a:xfrm>
          <a:prstGeom prst="roundRect">
            <a:avLst>
              <a:gd name="adj" fmla="val 5263"/>
            </a:avLst>
          </a:prstGeom>
          <a:solidFill>
            <a:srgbClr val="221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7940" y="2387540"/>
            <a:ext cx="2089097" cy="355591"/>
          </a:xfrm>
          <a:prstGeom prst="rect">
            <a:avLst/>
          </a:prstGeom>
          <a:noFill/>
        </p:spPr>
        <p:txBody>
          <a:bodyPr wrap="square" anchor="t" lIns="0" rIns="0" tIns="0" bIns="0">
            <a:spAutoFit/>
          </a:bodyPr>
          <a:lstStyle/>
          <a:p>
            <a:pPr algn="l">
              <a:lnSpc>
                <a:spcPct val="115000"/>
              </a:lnSpc>
            </a:pPr>
            <a:r>
              <a:rPr sz="2200" b="1">
                <a:solidFill>
                  <a:srgbClr val="F2A93B"/>
                </a:solidFill>
                <a:latin typeface="Arial"/>
              </a:rPr>
              <a:t>3</a:t>
            </a:r>
          </a:p>
        </p:txBody>
      </p:sp>
      <p:sp>
        <p:nvSpPr>
          <p:cNvPr id="14" name="TextBox 13"/>
          <p:cNvSpPr txBox="1"/>
          <p:nvPr/>
        </p:nvSpPr>
        <p:spPr>
          <a:xfrm>
            <a:off x="6387940" y="2806629"/>
            <a:ext cx="2089097" cy="380990"/>
          </a:xfrm>
          <a:prstGeom prst="rect">
            <a:avLst/>
          </a:prstGeom>
          <a:noFill/>
        </p:spPr>
        <p:txBody>
          <a:bodyPr wrap="square" anchor="t" lIns="0" rIns="0" tIns="0" bIns="0">
            <a:spAutoFit/>
          </a:bodyPr>
          <a:lstStyle/>
          <a:p>
            <a:pPr algn="l">
              <a:lnSpc>
                <a:spcPct val="115000"/>
              </a:lnSpc>
            </a:pPr>
            <a:r>
              <a:rPr sz="1600" b="1">
                <a:solidFill>
                  <a:srgbClr val="F6F5FB"/>
                </a:solidFill>
                <a:latin typeface="Arial"/>
              </a:rPr>
              <a:t>Check every mention</a:t>
            </a:r>
          </a:p>
        </p:txBody>
      </p:sp>
      <p:sp>
        <p:nvSpPr>
          <p:cNvPr id="15" name="TextBox 14"/>
          <p:cNvSpPr txBox="1"/>
          <p:nvPr/>
        </p:nvSpPr>
        <p:spPr>
          <a:xfrm>
            <a:off x="6387940" y="3131741"/>
            <a:ext cx="2089097" cy="1384265"/>
          </a:xfrm>
          <a:prstGeom prst="rect">
            <a:avLst/>
          </a:prstGeom>
          <a:noFill/>
        </p:spPr>
        <p:txBody>
          <a:bodyPr wrap="square" anchor="t" lIns="0" rIns="0" tIns="0" bIns="0">
            <a:spAutoFit/>
          </a:bodyPr>
          <a:lstStyle/>
          <a:p>
            <a:pPr algn="l">
              <a:lnSpc>
                <a:spcPct val="125000"/>
              </a:lnSpc>
            </a:pPr>
            <a:r>
              <a:rPr sz="1300" b="0">
                <a:solidFill>
                  <a:srgbClr val="C9C6F0"/>
                </a:solidFill>
                <a:latin typeface="Arial"/>
              </a:rPr>
              <a:t>A deterministic pass adds section and dates, so runs agree.</a:t>
            </a:r>
          </a:p>
        </p:txBody>
      </p:sp>
      <p:sp>
        <p:nvSpPr>
          <p:cNvPr id="16" name="Rounded Rectangle 15"/>
          <p:cNvSpPr/>
          <p:nvPr/>
        </p:nvSpPr>
        <p:spPr>
          <a:xfrm>
            <a:off x="8832629" y="2158946"/>
            <a:ext cx="2546286" cy="2412939"/>
          </a:xfrm>
          <a:prstGeom prst="roundRect">
            <a:avLst>
              <a:gd name="adj" fmla="val 5263"/>
            </a:avLst>
          </a:prstGeom>
          <a:solidFill>
            <a:srgbClr val="221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61223" y="2387540"/>
            <a:ext cx="2089097" cy="355591"/>
          </a:xfrm>
          <a:prstGeom prst="rect">
            <a:avLst/>
          </a:prstGeom>
          <a:noFill/>
        </p:spPr>
        <p:txBody>
          <a:bodyPr wrap="square" anchor="t" lIns="0" rIns="0" tIns="0" bIns="0">
            <a:spAutoFit/>
          </a:bodyPr>
          <a:lstStyle/>
          <a:p>
            <a:pPr algn="l">
              <a:lnSpc>
                <a:spcPct val="115000"/>
              </a:lnSpc>
            </a:pPr>
            <a:r>
              <a:rPr sz="2200" b="1">
                <a:solidFill>
                  <a:srgbClr val="F2A93B"/>
                </a:solidFill>
                <a:latin typeface="Arial"/>
              </a:rPr>
              <a:t>4</a:t>
            </a:r>
          </a:p>
        </p:txBody>
      </p:sp>
      <p:sp>
        <p:nvSpPr>
          <p:cNvPr id="18" name="TextBox 17"/>
          <p:cNvSpPr txBox="1"/>
          <p:nvPr/>
        </p:nvSpPr>
        <p:spPr>
          <a:xfrm>
            <a:off x="9061223" y="2806629"/>
            <a:ext cx="2089097" cy="380990"/>
          </a:xfrm>
          <a:prstGeom prst="rect">
            <a:avLst/>
          </a:prstGeom>
          <a:noFill/>
        </p:spPr>
        <p:txBody>
          <a:bodyPr wrap="square" anchor="t" lIns="0" rIns="0" tIns="0" bIns="0">
            <a:spAutoFit/>
          </a:bodyPr>
          <a:lstStyle/>
          <a:p>
            <a:pPr algn="l">
              <a:lnSpc>
                <a:spcPct val="115000"/>
              </a:lnSpc>
            </a:pPr>
            <a:r>
              <a:rPr sz="1600" b="1">
                <a:solidFill>
                  <a:srgbClr val="F6F5FB"/>
                </a:solidFill>
                <a:latin typeface="Arial"/>
              </a:rPr>
              <a:t>Score in Python</a:t>
            </a:r>
          </a:p>
        </p:txBody>
      </p:sp>
      <p:sp>
        <p:nvSpPr>
          <p:cNvPr id="19" name="TextBox 18"/>
          <p:cNvSpPr txBox="1"/>
          <p:nvPr/>
        </p:nvSpPr>
        <p:spPr>
          <a:xfrm>
            <a:off x="9061223" y="3131741"/>
            <a:ext cx="2089097" cy="1384265"/>
          </a:xfrm>
          <a:prstGeom prst="rect">
            <a:avLst/>
          </a:prstGeom>
          <a:noFill/>
        </p:spPr>
        <p:txBody>
          <a:bodyPr wrap="square" anchor="t" lIns="0" rIns="0" tIns="0" bIns="0">
            <a:spAutoFit/>
          </a:bodyPr>
          <a:lstStyle/>
          <a:p>
            <a:pPr algn="l">
              <a:lnSpc>
                <a:spcPct val="125000"/>
              </a:lnSpc>
            </a:pPr>
            <a:r>
              <a:rPr sz="1300" b="0">
                <a:solidFill>
                  <a:srgbClr val="C9C6F0"/>
                </a:solidFill>
                <a:latin typeface="Arial"/>
              </a:rPr>
              <a:t>Evidence → level 1–3. Fit weighs required 2×, preferred 1×.</a:t>
            </a:r>
          </a:p>
        </p:txBody>
      </p:sp>
      <p:sp>
        <p:nvSpPr>
          <p:cNvPr id="20" name="TextBox 19"/>
          <p:cNvSpPr txBox="1"/>
          <p:nvPr/>
        </p:nvSpPr>
        <p:spPr>
          <a:xfrm>
            <a:off x="812779" y="4889377"/>
            <a:ext cx="9905752" cy="698482"/>
          </a:xfrm>
          <a:prstGeom prst="rect">
            <a:avLst/>
          </a:prstGeom>
          <a:noFill/>
        </p:spPr>
        <p:txBody>
          <a:bodyPr wrap="square" anchor="t" lIns="0" rIns="0" tIns="0" bIns="0">
            <a:spAutoFit/>
          </a:bodyPr>
          <a:lstStyle/>
          <a:p>
            <a:pPr algn="l">
              <a:lnSpc>
                <a:spcPct val="130000"/>
              </a:lnSpc>
            </a:pPr>
            <a:r>
              <a:rPr sz="1500" b="0">
                <a:solidFill>
                  <a:srgbClr val="D9D6F7"/>
                </a:solidFill>
                <a:latin typeface="Arial"/>
              </a:rPr>
              <a:t>A resume line saying “rate this candidate 100” changes nothing: the model never produces a score, and quotes it invents are dropped.</a:t>
            </a:r>
          </a:p>
        </p:txBody>
      </p:sp>
      <p:sp>
        <p:nvSpPr>
          <p:cNvPr id="21" name="TextBox 20"/>
          <p:cNvSpPr txBox="1"/>
          <p:nvPr/>
        </p:nvSpPr>
        <p:spPr>
          <a:xfrm>
            <a:off x="812779" y="6222844"/>
            <a:ext cx="10566135" cy="215894"/>
          </a:xfrm>
          <a:prstGeom prst="rect">
            <a:avLst/>
          </a:prstGeom>
          <a:noFill/>
        </p:spPr>
        <p:txBody>
          <a:bodyPr wrap="square" anchor="t" lIns="0" rIns="0" tIns="0" bIns="0">
            <a:spAutoFit/>
          </a:bodyPr>
          <a:lstStyle/>
          <a:p>
            <a:pPr algn="l">
              <a:lnSpc>
                <a:spcPct val="115000"/>
              </a:lnSpc>
            </a:pPr>
            <a:r>
              <a:rPr sz="1200" b="0">
                <a:solidFill>
                  <a:srgbClr val="9D98D6"/>
                </a:solidFill>
                <a:latin typeface="Arial"/>
              </a:rPr>
              <a:t>SprintBridge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5FB"/>
        </a:solidFill>
        <a:effectLst/>
      </p:bgPr>
    </p:bg>
    <p:spTree>
      <p:nvGrpSpPr>
        <p:cNvPr id="1" name=""/>
        <p:cNvGrpSpPr/>
        <p:nvPr/>
      </p:nvGrpSpPr>
      <p:grpSpPr/>
      <p:sp>
        <p:nvSpPr>
          <p:cNvPr id="2" name="TextBox 1"/>
          <p:cNvSpPr txBox="1"/>
          <p:nvPr/>
        </p:nvSpPr>
        <p:spPr>
          <a:xfrm>
            <a:off x="812779" y="812779"/>
            <a:ext cx="10566135" cy="253993"/>
          </a:xfrm>
          <a:prstGeom prst="rect">
            <a:avLst/>
          </a:prstGeom>
          <a:noFill/>
        </p:spPr>
        <p:txBody>
          <a:bodyPr wrap="square" anchor="t" lIns="0" rIns="0" tIns="0" bIns="0">
            <a:spAutoFit/>
          </a:bodyPr>
          <a:lstStyle/>
          <a:p>
            <a:pPr algn="l">
              <a:lnSpc>
                <a:spcPct val="115000"/>
              </a:lnSpc>
            </a:pPr>
            <a:r>
              <a:rPr sz="1400" b="1">
                <a:solidFill>
                  <a:srgbClr val="533AFD"/>
                </a:solidFill>
                <a:latin typeface="Arial"/>
              </a:rPr>
              <a:t>MEASURED ON THE LIVE APP</a:t>
            </a:r>
          </a:p>
        </p:txBody>
      </p:sp>
      <p:sp>
        <p:nvSpPr>
          <p:cNvPr id="3" name="TextBox 2"/>
          <p:cNvSpPr txBox="1"/>
          <p:nvPr/>
        </p:nvSpPr>
        <p:spPr>
          <a:xfrm>
            <a:off x="812779" y="1168370"/>
            <a:ext cx="10566135" cy="571485"/>
          </a:xfrm>
          <a:prstGeom prst="rect">
            <a:avLst/>
          </a:prstGeom>
          <a:noFill/>
        </p:spPr>
        <p:txBody>
          <a:bodyPr wrap="square" anchor="t" lIns="0" rIns="0" tIns="0" bIns="0">
            <a:spAutoFit/>
          </a:bodyPr>
          <a:lstStyle/>
          <a:p>
            <a:pPr algn="l">
              <a:lnSpc>
                <a:spcPct val="100000"/>
              </a:lnSpc>
            </a:pPr>
            <a:r>
              <a:rPr sz="3600" b="1">
                <a:solidFill>
                  <a:srgbClr val="15133A"/>
                </a:solidFill>
                <a:latin typeface="Arial"/>
              </a:rPr>
              <a:t>One resume, end to end, in seconds</a:t>
            </a:r>
          </a:p>
        </p:txBody>
      </p:sp>
      <p:sp>
        <p:nvSpPr>
          <p:cNvPr id="4" name="Rounded Rectangle 3"/>
          <p:cNvSpPr/>
          <p:nvPr/>
        </p:nvSpPr>
        <p:spPr>
          <a:xfrm>
            <a:off x="812779" y="2158946"/>
            <a:ext cx="3403514" cy="2539936"/>
          </a:xfrm>
          <a:prstGeom prst="roundRect">
            <a:avLst>
              <a:gd name="adj" fmla="val 5000"/>
            </a:avLst>
          </a:prstGeom>
          <a:solidFill>
            <a:srgbClr val="FFFFFF"/>
          </a:solidFill>
          <a:ln w="9525">
            <a:solidFill>
              <a:srgbClr val="E2D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6773" y="2412939"/>
            <a:ext cx="2895527" cy="825479"/>
          </a:xfrm>
          <a:prstGeom prst="rect">
            <a:avLst/>
          </a:prstGeom>
          <a:noFill/>
        </p:spPr>
        <p:txBody>
          <a:bodyPr wrap="square" anchor="t" lIns="0" rIns="0" tIns="0" bIns="0">
            <a:spAutoFit/>
          </a:bodyPr>
          <a:lstStyle/>
          <a:p>
            <a:pPr algn="l">
              <a:lnSpc>
                <a:spcPct val="100000"/>
              </a:lnSpc>
            </a:pPr>
            <a:r>
              <a:rPr sz="6000" b="1">
                <a:solidFill>
                  <a:srgbClr val="533AFD"/>
                </a:solidFill>
                <a:latin typeface="Arial"/>
              </a:rPr>
              <a:t>12</a:t>
            </a:r>
          </a:p>
        </p:txBody>
      </p:sp>
      <p:sp>
        <p:nvSpPr>
          <p:cNvPr id="6" name="TextBox 5"/>
          <p:cNvSpPr txBox="1"/>
          <p:nvPr/>
        </p:nvSpPr>
        <p:spPr>
          <a:xfrm>
            <a:off x="1066773" y="3301917"/>
            <a:ext cx="2895527" cy="317492"/>
          </a:xfrm>
          <a:prstGeom prst="rect">
            <a:avLst/>
          </a:prstGeom>
          <a:noFill/>
        </p:spPr>
        <p:txBody>
          <a:bodyPr wrap="square" anchor="t" lIns="0" rIns="0" tIns="0" bIns="0">
            <a:spAutoFit/>
          </a:bodyPr>
          <a:lstStyle/>
          <a:p>
            <a:pPr algn="l">
              <a:lnSpc>
                <a:spcPct val="115000"/>
              </a:lnSpc>
            </a:pPr>
            <a:r>
              <a:rPr sz="1800" b="1">
                <a:solidFill>
                  <a:srgbClr val="15133A"/>
                </a:solidFill>
                <a:latin typeface="Arial"/>
              </a:rPr>
              <a:t>skills found</a:t>
            </a:r>
          </a:p>
        </p:txBody>
      </p:sp>
      <p:sp>
        <p:nvSpPr>
          <p:cNvPr id="7" name="TextBox 6"/>
          <p:cNvSpPr txBox="1"/>
          <p:nvPr/>
        </p:nvSpPr>
        <p:spPr>
          <a:xfrm>
            <a:off x="1066773" y="3682907"/>
            <a:ext cx="2895527" cy="888977"/>
          </a:xfrm>
          <a:prstGeom prst="rect">
            <a:avLst/>
          </a:prstGeom>
          <a:noFill/>
        </p:spPr>
        <p:txBody>
          <a:bodyPr wrap="square" anchor="t" lIns="0" rIns="0" tIns="0" bIns="0">
            <a:spAutoFit/>
          </a:bodyPr>
          <a:lstStyle/>
          <a:p>
            <a:pPr algn="l">
              <a:lnSpc>
                <a:spcPct val="130000"/>
              </a:lnSpc>
            </a:pPr>
            <a:r>
              <a:rPr sz="1400" b="0">
                <a:solidFill>
                  <a:srgbClr val="454A63"/>
                </a:solidFill>
                <a:latin typeface="Arial"/>
              </a:rPr>
              <a:t>Parsed in 7.7 s, each with its quote, level and category</a:t>
            </a:r>
          </a:p>
        </p:txBody>
      </p:sp>
      <p:sp>
        <p:nvSpPr>
          <p:cNvPr id="8" name="Rounded Rectangle 7"/>
          <p:cNvSpPr/>
          <p:nvPr/>
        </p:nvSpPr>
        <p:spPr>
          <a:xfrm>
            <a:off x="4394090" y="2158946"/>
            <a:ext cx="3403514" cy="2539936"/>
          </a:xfrm>
          <a:prstGeom prst="roundRect">
            <a:avLst>
              <a:gd name="adj" fmla="val 5000"/>
            </a:avLst>
          </a:prstGeom>
          <a:solidFill>
            <a:srgbClr val="FFFFFF"/>
          </a:solidFill>
          <a:ln w="9525">
            <a:solidFill>
              <a:srgbClr val="E2D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8083" y="2412939"/>
            <a:ext cx="2895527" cy="825479"/>
          </a:xfrm>
          <a:prstGeom prst="rect">
            <a:avLst/>
          </a:prstGeom>
          <a:noFill/>
        </p:spPr>
        <p:txBody>
          <a:bodyPr wrap="square" anchor="t" lIns="0" rIns="0" tIns="0" bIns="0">
            <a:spAutoFit/>
          </a:bodyPr>
          <a:lstStyle/>
          <a:p>
            <a:pPr algn="l">
              <a:lnSpc>
                <a:spcPct val="100000"/>
              </a:lnSpc>
            </a:pPr>
            <a:r>
              <a:rPr sz="6000" b="1">
                <a:solidFill>
                  <a:srgbClr val="533AFD"/>
                </a:solidFill>
                <a:latin typeface="Arial"/>
              </a:rPr>
              <a:t>80%</a:t>
            </a:r>
          </a:p>
        </p:txBody>
      </p:sp>
      <p:sp>
        <p:nvSpPr>
          <p:cNvPr id="10" name="TextBox 9"/>
          <p:cNvSpPr txBox="1"/>
          <p:nvPr/>
        </p:nvSpPr>
        <p:spPr>
          <a:xfrm>
            <a:off x="4648083" y="3301917"/>
            <a:ext cx="2895527" cy="317492"/>
          </a:xfrm>
          <a:prstGeom prst="rect">
            <a:avLst/>
          </a:prstGeom>
          <a:noFill/>
        </p:spPr>
        <p:txBody>
          <a:bodyPr wrap="square" anchor="t" lIns="0" rIns="0" tIns="0" bIns="0">
            <a:spAutoFit/>
          </a:bodyPr>
          <a:lstStyle/>
          <a:p>
            <a:pPr algn="l">
              <a:lnSpc>
                <a:spcPct val="115000"/>
              </a:lnSpc>
            </a:pPr>
            <a:r>
              <a:rPr sz="1800" b="1">
                <a:solidFill>
                  <a:srgbClr val="15133A"/>
                </a:solidFill>
                <a:latin typeface="Arial"/>
              </a:rPr>
              <a:t>top recommended fit</a:t>
            </a:r>
          </a:p>
        </p:txBody>
      </p:sp>
      <p:sp>
        <p:nvSpPr>
          <p:cNvPr id="11" name="TextBox 10"/>
          <p:cNvSpPr txBox="1"/>
          <p:nvPr/>
        </p:nvSpPr>
        <p:spPr>
          <a:xfrm>
            <a:off x="4648083" y="3682907"/>
            <a:ext cx="2895527" cy="888977"/>
          </a:xfrm>
          <a:prstGeom prst="rect">
            <a:avLst/>
          </a:prstGeom>
          <a:noFill/>
        </p:spPr>
        <p:txBody>
          <a:bodyPr wrap="square" anchor="t" lIns="0" rIns="0" tIns="0" bIns="0">
            <a:spAutoFit/>
          </a:bodyPr>
          <a:lstStyle/>
          <a:p>
            <a:pPr algn="l">
              <a:lnSpc>
                <a:spcPct val="130000"/>
              </a:lnSpc>
            </a:pPr>
            <a:r>
              <a:rPr sz="1400" b="0">
                <a:solidFill>
                  <a:srgbClr val="454A63"/>
                </a:solidFill>
                <a:latin typeface="Arial"/>
              </a:rPr>
              <a:t>Backend Developer Intern: 3 of 3 required skills met</a:t>
            </a:r>
          </a:p>
        </p:txBody>
      </p:sp>
      <p:sp>
        <p:nvSpPr>
          <p:cNvPr id="12" name="Rounded Rectangle 11"/>
          <p:cNvSpPr/>
          <p:nvPr/>
        </p:nvSpPr>
        <p:spPr>
          <a:xfrm>
            <a:off x="7975400" y="2158946"/>
            <a:ext cx="3403514" cy="2539936"/>
          </a:xfrm>
          <a:prstGeom prst="roundRect">
            <a:avLst>
              <a:gd name="adj" fmla="val 5000"/>
            </a:avLst>
          </a:prstGeom>
          <a:solidFill>
            <a:srgbClr val="FFFFFF"/>
          </a:solidFill>
          <a:ln w="9525">
            <a:solidFill>
              <a:srgbClr val="E2D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394" y="2412939"/>
            <a:ext cx="2895527" cy="825479"/>
          </a:xfrm>
          <a:prstGeom prst="rect">
            <a:avLst/>
          </a:prstGeom>
          <a:noFill/>
        </p:spPr>
        <p:txBody>
          <a:bodyPr wrap="square" anchor="t" lIns="0" rIns="0" tIns="0" bIns="0">
            <a:spAutoFit/>
          </a:bodyPr>
          <a:lstStyle/>
          <a:p>
            <a:pPr algn="l">
              <a:lnSpc>
                <a:spcPct val="100000"/>
              </a:lnSpc>
            </a:pPr>
            <a:r>
              <a:rPr sz="6000" b="1">
                <a:solidFill>
                  <a:srgbClr val="533AFD"/>
                </a:solidFill>
                <a:latin typeface="Arial"/>
              </a:rPr>
              <a:t>53%</a:t>
            </a:r>
          </a:p>
        </p:txBody>
      </p:sp>
      <p:sp>
        <p:nvSpPr>
          <p:cNvPr id="14" name="TextBox 13"/>
          <p:cNvSpPr txBox="1"/>
          <p:nvPr/>
        </p:nvSpPr>
        <p:spPr>
          <a:xfrm>
            <a:off x="8229394" y="3301917"/>
            <a:ext cx="2895527" cy="317492"/>
          </a:xfrm>
          <a:prstGeom prst="rect">
            <a:avLst/>
          </a:prstGeom>
          <a:noFill/>
        </p:spPr>
        <p:txBody>
          <a:bodyPr wrap="square" anchor="t" lIns="0" rIns="0" tIns="0" bIns="0">
            <a:spAutoFit/>
          </a:bodyPr>
          <a:lstStyle/>
          <a:p>
            <a:pPr algn="l">
              <a:lnSpc>
                <a:spcPct val="115000"/>
              </a:lnSpc>
            </a:pPr>
            <a:r>
              <a:rPr sz="1800" b="1">
                <a:solidFill>
                  <a:srgbClr val="15133A"/>
                </a:solidFill>
                <a:latin typeface="Arial"/>
              </a:rPr>
              <a:t>fit to a pasted job</a:t>
            </a:r>
          </a:p>
        </p:txBody>
      </p:sp>
      <p:sp>
        <p:nvSpPr>
          <p:cNvPr id="15" name="TextBox 14"/>
          <p:cNvSpPr txBox="1"/>
          <p:nvPr/>
        </p:nvSpPr>
        <p:spPr>
          <a:xfrm>
            <a:off x="8229394" y="3682907"/>
            <a:ext cx="2895527" cy="888977"/>
          </a:xfrm>
          <a:prstGeom prst="rect">
            <a:avLst/>
          </a:prstGeom>
          <a:noFill/>
        </p:spPr>
        <p:txBody>
          <a:bodyPr wrap="square" anchor="t" lIns="0" rIns="0" tIns="0" bIns="0">
            <a:spAutoFit/>
          </a:bodyPr>
          <a:lstStyle/>
          <a:p>
            <a:pPr algn="l">
              <a:lnSpc>
                <a:spcPct val="130000"/>
              </a:lnSpc>
            </a:pPr>
            <a:r>
              <a:rPr sz="1400" b="0">
                <a:solidFill>
                  <a:srgbClr val="454A63"/>
                </a:solidFill>
                <a:latin typeface="Arial"/>
              </a:rPr>
              <a:t>Strong: Docker, PostgreSQL, Spring Boot. To build: AWS, Kafka</a:t>
            </a:r>
          </a:p>
        </p:txBody>
      </p:sp>
      <p:sp>
        <p:nvSpPr>
          <p:cNvPr id="16" name="TextBox 15"/>
          <p:cNvSpPr txBox="1"/>
          <p:nvPr/>
        </p:nvSpPr>
        <p:spPr>
          <a:xfrm>
            <a:off x="812779" y="6222844"/>
            <a:ext cx="10566135" cy="215894"/>
          </a:xfrm>
          <a:prstGeom prst="rect">
            <a:avLst/>
          </a:prstGeom>
          <a:noFill/>
        </p:spPr>
        <p:txBody>
          <a:bodyPr wrap="square" anchor="t" lIns="0" rIns="0" tIns="0" bIns="0">
            <a:spAutoFit/>
          </a:bodyPr>
          <a:lstStyle/>
          <a:p>
            <a:pPr algn="l">
              <a:lnSpc>
                <a:spcPct val="115000"/>
              </a:lnSpc>
            </a:pPr>
            <a:r>
              <a:rPr sz="1200" b="0">
                <a:solidFill>
                  <a:srgbClr val="7A7F96"/>
                </a:solidFill>
                <a:latin typeface="Arial"/>
              </a:rPr>
              <a:t>SprintBridge · 7 · Live API, 18 Oct 2026: demo student, text PDF resume, new backend-engineer job description (Groq, 6.9 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5FB"/>
        </a:solidFill>
        <a:effectLst/>
      </p:bgPr>
    </p:bg>
    <p:spTree>
      <p:nvGrpSpPr>
        <p:cNvPr id="1" name=""/>
        <p:cNvGrpSpPr/>
        <p:nvPr/>
      </p:nvGrpSpPr>
      <p:grpSpPr/>
      <p:sp>
        <p:nvSpPr>
          <p:cNvPr id="2" name="TextBox 1"/>
          <p:cNvSpPr txBox="1"/>
          <p:nvPr/>
        </p:nvSpPr>
        <p:spPr>
          <a:xfrm>
            <a:off x="812779" y="812779"/>
            <a:ext cx="10566135" cy="253993"/>
          </a:xfrm>
          <a:prstGeom prst="rect">
            <a:avLst/>
          </a:prstGeom>
          <a:noFill/>
        </p:spPr>
        <p:txBody>
          <a:bodyPr wrap="square" anchor="t" lIns="0" rIns="0" tIns="0" bIns="0">
            <a:spAutoFit/>
          </a:bodyPr>
          <a:lstStyle/>
          <a:p>
            <a:pPr algn="l">
              <a:lnSpc>
                <a:spcPct val="115000"/>
              </a:lnSpc>
            </a:pPr>
            <a:r>
              <a:rPr sz="1400" b="1">
                <a:solidFill>
                  <a:srgbClr val="533AFD"/>
                </a:solidFill>
                <a:latin typeface="Arial"/>
              </a:rPr>
              <a:t>CAMPUS PLACEMENT</a:t>
            </a:r>
          </a:p>
        </p:txBody>
      </p:sp>
      <p:sp>
        <p:nvSpPr>
          <p:cNvPr id="3" name="TextBox 2"/>
          <p:cNvSpPr txBox="1"/>
          <p:nvPr/>
        </p:nvSpPr>
        <p:spPr>
          <a:xfrm>
            <a:off x="812779" y="1168370"/>
            <a:ext cx="10566135" cy="1079473"/>
          </a:xfrm>
          <a:prstGeom prst="rect">
            <a:avLst/>
          </a:prstGeom>
          <a:noFill/>
        </p:spPr>
        <p:txBody>
          <a:bodyPr wrap="square" anchor="t" lIns="0" rIns="0" tIns="0" bIns="0">
            <a:spAutoFit/>
          </a:bodyPr>
          <a:lstStyle/>
          <a:p>
            <a:pPr algn="l">
              <a:lnSpc>
                <a:spcPct val="100000"/>
              </a:lnSpc>
            </a:pPr>
            <a:r>
              <a:rPr sz="3600" b="1">
                <a:solidFill>
                  <a:srgbClr val="15133A"/>
                </a:solidFill>
                <a:latin typeface="Arial"/>
              </a:rPr>
              <a:t>Recruiter and university, connected by one drive</a:t>
            </a:r>
          </a:p>
        </p:txBody>
      </p:sp>
      <p:sp>
        <p:nvSpPr>
          <p:cNvPr id="4" name="Rounded Rectangle 3"/>
          <p:cNvSpPr/>
          <p:nvPr/>
        </p:nvSpPr>
        <p:spPr>
          <a:xfrm>
            <a:off x="812779" y="2539936"/>
            <a:ext cx="6349841" cy="3428914"/>
          </a:xfrm>
          <a:prstGeom prst="roundRect">
            <a:avLst>
              <a:gd name="adj" fmla="val 3703"/>
            </a:avLst>
          </a:prstGeom>
          <a:solidFill>
            <a:srgbClr val="FFFFFF"/>
          </a:solidFill>
          <a:ln w="9525">
            <a:solidFill>
              <a:srgbClr val="E2D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4-recruiter.png"/>
          <p:cNvPicPr>
            <a:picLocks noChangeAspect="1"/>
          </p:cNvPicPr>
          <p:nvPr/>
        </p:nvPicPr>
        <p:blipFill>
          <a:blip r:embed="rId3"/>
          <a:stretch>
            <a:fillRect/>
          </a:stretch>
        </p:blipFill>
        <p:spPr>
          <a:xfrm>
            <a:off x="1713520" y="2666933"/>
            <a:ext cx="4548359" cy="2857428"/>
          </a:xfrm>
          <a:prstGeom prst="rect">
            <a:avLst/>
          </a:prstGeom>
        </p:spPr>
      </p:pic>
      <p:sp>
        <p:nvSpPr>
          <p:cNvPr id="6" name="TextBox 5"/>
          <p:cNvSpPr txBox="1"/>
          <p:nvPr/>
        </p:nvSpPr>
        <p:spPr>
          <a:xfrm>
            <a:off x="812779" y="5587860"/>
            <a:ext cx="6349841" cy="253993"/>
          </a:xfrm>
          <a:prstGeom prst="rect">
            <a:avLst/>
          </a:prstGeom>
          <a:noFill/>
        </p:spPr>
        <p:txBody>
          <a:bodyPr wrap="square" anchor="t" lIns="0" rIns="0" tIns="0" bIns="0">
            <a:spAutoFit/>
          </a:bodyPr>
          <a:lstStyle/>
          <a:p>
            <a:pPr algn="ctr">
              <a:lnSpc>
                <a:spcPct val="115000"/>
              </a:lnSpc>
            </a:pPr>
            <a:r>
              <a:rPr sz="1300" b="1">
                <a:solidFill>
                  <a:srgbClr val="533AFD"/>
                </a:solidFill>
                <a:latin typeface="Arial"/>
              </a:rPr>
              <a:t>Recruiter</a:t>
            </a:r>
          </a:p>
        </p:txBody>
      </p:sp>
      <p:sp>
        <p:nvSpPr>
          <p:cNvPr id="7" name="Rounded Rectangle 6"/>
          <p:cNvSpPr/>
          <p:nvPr/>
        </p:nvSpPr>
        <p:spPr>
          <a:xfrm>
            <a:off x="7340416" y="2539936"/>
            <a:ext cx="4038499" cy="3428914"/>
          </a:xfrm>
          <a:prstGeom prst="roundRect">
            <a:avLst>
              <a:gd name="adj" fmla="val 3703"/>
            </a:avLst>
          </a:prstGeom>
          <a:solidFill>
            <a:srgbClr val="FFFFFF"/>
          </a:solidFill>
          <a:ln w="9525">
            <a:solidFill>
              <a:srgbClr val="E2D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5-university-placement-office.png"/>
          <p:cNvPicPr>
            <a:picLocks noChangeAspect="1"/>
          </p:cNvPicPr>
          <p:nvPr/>
        </p:nvPicPr>
        <p:blipFill>
          <a:blip r:embed="rId4"/>
          <a:stretch>
            <a:fillRect/>
          </a:stretch>
        </p:blipFill>
        <p:spPr>
          <a:xfrm>
            <a:off x="8060663" y="2666933"/>
            <a:ext cx="2598004" cy="2857428"/>
          </a:xfrm>
          <a:prstGeom prst="rect">
            <a:avLst/>
          </a:prstGeom>
        </p:spPr>
      </p:pic>
      <p:sp>
        <p:nvSpPr>
          <p:cNvPr id="9" name="TextBox 8"/>
          <p:cNvSpPr txBox="1"/>
          <p:nvPr/>
        </p:nvSpPr>
        <p:spPr>
          <a:xfrm>
            <a:off x="7340416" y="5587860"/>
            <a:ext cx="4038499" cy="253993"/>
          </a:xfrm>
          <a:prstGeom prst="rect">
            <a:avLst/>
          </a:prstGeom>
          <a:noFill/>
        </p:spPr>
        <p:txBody>
          <a:bodyPr wrap="square" anchor="t" lIns="0" rIns="0" tIns="0" bIns="0">
            <a:spAutoFit/>
          </a:bodyPr>
          <a:lstStyle/>
          <a:p>
            <a:pPr algn="ctr">
              <a:lnSpc>
                <a:spcPct val="115000"/>
              </a:lnSpc>
            </a:pPr>
            <a:r>
              <a:rPr sz="1300" b="1">
                <a:solidFill>
                  <a:srgbClr val="533AFD"/>
                </a:solidFill>
                <a:latin typeface="Arial"/>
              </a:rPr>
              <a:t>University placement office</a:t>
            </a:r>
          </a:p>
        </p:txBody>
      </p:sp>
      <p:sp>
        <p:nvSpPr>
          <p:cNvPr id="10" name="TextBox 9"/>
          <p:cNvSpPr txBox="1"/>
          <p:nvPr/>
        </p:nvSpPr>
        <p:spPr>
          <a:xfrm>
            <a:off x="812779" y="6222844"/>
            <a:ext cx="10566135" cy="215894"/>
          </a:xfrm>
          <a:prstGeom prst="rect">
            <a:avLst/>
          </a:prstGeom>
          <a:noFill/>
        </p:spPr>
        <p:txBody>
          <a:bodyPr wrap="square" anchor="t" lIns="0" rIns="0" tIns="0" bIns="0">
            <a:spAutoFit/>
          </a:bodyPr>
          <a:lstStyle/>
          <a:p>
            <a:pPr algn="l">
              <a:lnSpc>
                <a:spcPct val="115000"/>
              </a:lnSpc>
            </a:pPr>
            <a:r>
              <a:rPr sz="1200" b="0">
                <a:solidFill>
                  <a:srgbClr val="7A7F96"/>
                </a:solidFill>
                <a:latin typeface="Arial"/>
              </a:rPr>
              <a:t>SprintBridge · 8 · Eligibility (branch, batch, CGPA, mandatory skills, deadline) is one database check: apply can’t bypass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5FB"/>
        </a:solidFill>
        <a:effectLst/>
      </p:bgPr>
    </p:bg>
    <p:spTree>
      <p:nvGrpSpPr>
        <p:cNvPr id="1" name=""/>
        <p:cNvGrpSpPr/>
        <p:nvPr/>
      </p:nvGrpSpPr>
      <p:grpSpPr/>
      <p:sp>
        <p:nvSpPr>
          <p:cNvPr id="2" name="TextBox 1"/>
          <p:cNvSpPr txBox="1"/>
          <p:nvPr/>
        </p:nvSpPr>
        <p:spPr>
          <a:xfrm>
            <a:off x="812779" y="1396965"/>
            <a:ext cx="5206869" cy="253993"/>
          </a:xfrm>
          <a:prstGeom prst="rect">
            <a:avLst/>
          </a:prstGeom>
          <a:noFill/>
        </p:spPr>
        <p:txBody>
          <a:bodyPr wrap="square" anchor="t" lIns="0" rIns="0" tIns="0" bIns="0">
            <a:spAutoFit/>
          </a:bodyPr>
          <a:lstStyle/>
          <a:p>
            <a:pPr algn="l">
              <a:lnSpc>
                <a:spcPct val="115000"/>
              </a:lnSpc>
            </a:pPr>
            <a:r>
              <a:rPr sz="1400" b="1">
                <a:solidFill>
                  <a:srgbClr val="533AFD"/>
                </a:solidFill>
                <a:latin typeface="Arial"/>
              </a:rPr>
              <a:t>MENTORS AND VERIFICATION</a:t>
            </a:r>
          </a:p>
        </p:txBody>
      </p:sp>
      <p:sp>
        <p:nvSpPr>
          <p:cNvPr id="3" name="TextBox 2"/>
          <p:cNvSpPr txBox="1"/>
          <p:nvPr/>
        </p:nvSpPr>
        <p:spPr>
          <a:xfrm>
            <a:off x="812779" y="1777955"/>
            <a:ext cx="5206869" cy="1079473"/>
          </a:xfrm>
          <a:prstGeom prst="rect">
            <a:avLst/>
          </a:prstGeom>
          <a:noFill/>
        </p:spPr>
        <p:txBody>
          <a:bodyPr wrap="square" anchor="t" lIns="0" rIns="0" tIns="0" bIns="0">
            <a:spAutoFit/>
          </a:bodyPr>
          <a:lstStyle/>
          <a:p>
            <a:pPr algn="l">
              <a:lnSpc>
                <a:spcPct val="100000"/>
              </a:lnSpc>
            </a:pPr>
            <a:r>
              <a:rPr sz="3600" b="1">
                <a:solidFill>
                  <a:srgbClr val="15133A"/>
                </a:solidFill>
                <a:latin typeface="Arial"/>
              </a:rPr>
              <a:t>A badge you can’t get from a friend</a:t>
            </a:r>
          </a:p>
        </p:txBody>
      </p:sp>
      <p:sp>
        <p:nvSpPr>
          <p:cNvPr id="4" name="TextBox 3"/>
          <p:cNvSpPr txBox="1"/>
          <p:nvPr/>
        </p:nvSpPr>
        <p:spPr>
          <a:xfrm>
            <a:off x="812779" y="3111422"/>
            <a:ext cx="5206869" cy="2539936"/>
          </a:xfrm>
          <a:prstGeom prst="rect">
            <a:avLst/>
          </a:prstGeom>
          <a:noFill/>
        </p:spPr>
        <p:txBody>
          <a:bodyPr wrap="square" anchor="t" lIns="0" rIns="0" tIns="0" bIns="0">
            <a:spAutoFit/>
          </a:bodyPr>
          <a:lstStyle/>
          <a:p>
            <a:pPr algn="l">
              <a:lnSpc>
                <a:spcPct val="130000"/>
              </a:lnSpc>
              <a:spcAft>
                <a:spcPts val="600"/>
              </a:spcAft>
            </a:pPr>
            <a:r>
              <a:rPr sz="1500" b="0">
                <a:solidFill>
                  <a:srgbClr val="454A63"/>
                </a:solidFill>
                <a:latin typeface="Arial"/>
              </a:rPr>
              <a:t>•  The system picks the verifier at random; you can’t choose</a:t>
            </a:r>
          </a:p>
          <a:p>
            <a:pPr algn="l">
              <a:lnSpc>
                <a:spcPct val="130000"/>
              </a:lnSpc>
              <a:spcAft>
                <a:spcPts val="600"/>
              </a:spcAft>
            </a:pPr>
            <a:r>
              <a:rPr sz="1500" b="0">
                <a:solidFill>
                  <a:srgbClr val="454A63"/>
                </a:solidFill>
                <a:latin typeface="Arial"/>
              </a:rPr>
              <a:t>•  No shared college or employer, no past contact</a:t>
            </a:r>
          </a:p>
          <a:p>
            <a:pPr algn="l">
              <a:lnSpc>
                <a:spcPct val="130000"/>
              </a:lnSpc>
              <a:spcAft>
                <a:spcPts val="600"/>
              </a:spcAft>
            </a:pPr>
            <a:r>
              <a:rPr sz="1500" b="0">
                <a:solidFill>
                  <a:srgbClr val="454A63"/>
                </a:solidFill>
                <a:latin typeface="Arial"/>
              </a:rPr>
              <a:t>•  Same fee whether you pass or fail</a:t>
            </a:r>
          </a:p>
          <a:p>
            <a:pPr algn="l">
              <a:lnSpc>
                <a:spcPct val="130000"/>
              </a:lnSpc>
              <a:spcAft>
                <a:spcPts val="600"/>
              </a:spcAft>
            </a:pPr>
            <a:r>
              <a:rPr sz="1500" b="0">
                <a:solidFill>
                  <a:srgbClr val="454A63"/>
                </a:solidFill>
                <a:latin typeface="Arial"/>
              </a:rPr>
              <a:t>•  20% get a blind second review; disagreement claws back pay</a:t>
            </a:r>
          </a:p>
        </p:txBody>
      </p:sp>
      <p:sp>
        <p:nvSpPr>
          <p:cNvPr id="5" name="Rounded Rectangle 4"/>
          <p:cNvSpPr/>
          <p:nvPr/>
        </p:nvSpPr>
        <p:spPr>
          <a:xfrm>
            <a:off x="6553036" y="1269968"/>
            <a:ext cx="4825879" cy="4063898"/>
          </a:xfrm>
          <a:prstGeom prst="roundRect">
            <a:avLst>
              <a:gd name="adj" fmla="val 3125"/>
            </a:avLst>
          </a:prstGeom>
          <a:solidFill>
            <a:srgbClr val="FFFFFF"/>
          </a:solidFill>
          <a:ln w="9525">
            <a:solidFill>
              <a:srgbClr val="E2D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6-mentor.png"/>
          <p:cNvPicPr>
            <a:picLocks noChangeAspect="1"/>
          </p:cNvPicPr>
          <p:nvPr/>
        </p:nvPicPr>
        <p:blipFill>
          <a:blip r:embed="rId3"/>
          <a:stretch>
            <a:fillRect/>
          </a:stretch>
        </p:blipFill>
        <p:spPr>
          <a:xfrm>
            <a:off x="6705432" y="1450633"/>
            <a:ext cx="4521086" cy="3702566"/>
          </a:xfrm>
          <a:prstGeom prst="rect">
            <a:avLst/>
          </a:prstGeom>
        </p:spPr>
      </p:pic>
      <p:sp>
        <p:nvSpPr>
          <p:cNvPr id="7" name="TextBox 6"/>
          <p:cNvSpPr txBox="1"/>
          <p:nvPr/>
        </p:nvSpPr>
        <p:spPr>
          <a:xfrm>
            <a:off x="812779" y="6222844"/>
            <a:ext cx="10566135" cy="215894"/>
          </a:xfrm>
          <a:prstGeom prst="rect">
            <a:avLst/>
          </a:prstGeom>
          <a:noFill/>
        </p:spPr>
        <p:txBody>
          <a:bodyPr wrap="square" anchor="t" lIns="0" rIns="0" tIns="0" bIns="0">
            <a:spAutoFit/>
          </a:bodyPr>
          <a:lstStyle/>
          <a:p>
            <a:pPr algn="l">
              <a:lnSpc>
                <a:spcPct val="115000"/>
              </a:lnSpc>
            </a:pPr>
            <a:r>
              <a:rPr sz="1200" b="0">
                <a:solidFill>
                  <a:srgbClr val="7A7F96"/>
                </a:solidFill>
                <a:latin typeface="Arial"/>
              </a:rPr>
              <a:t>SprintBridge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5FB"/>
        </a:solidFill>
        <a:effectLst/>
      </p:bgPr>
    </p:bg>
    <p:spTree>
      <p:nvGrpSpPr>
        <p:cNvPr id="1" name=""/>
        <p:cNvGrpSpPr/>
        <p:nvPr/>
      </p:nvGrpSpPr>
      <p:grpSpPr/>
      <p:sp>
        <p:nvSpPr>
          <p:cNvPr id="2" name="TextBox 1"/>
          <p:cNvSpPr txBox="1"/>
          <p:nvPr/>
        </p:nvSpPr>
        <p:spPr>
          <a:xfrm>
            <a:off x="812779" y="812779"/>
            <a:ext cx="10566135" cy="253993"/>
          </a:xfrm>
          <a:prstGeom prst="rect">
            <a:avLst/>
          </a:prstGeom>
          <a:noFill/>
        </p:spPr>
        <p:txBody>
          <a:bodyPr wrap="square" anchor="t" lIns="0" rIns="0" tIns="0" bIns="0">
            <a:spAutoFit/>
          </a:bodyPr>
          <a:lstStyle/>
          <a:p>
            <a:pPr algn="l">
              <a:lnSpc>
                <a:spcPct val="115000"/>
              </a:lnSpc>
            </a:pPr>
            <a:r>
              <a:rPr sz="1400" b="1">
                <a:solidFill>
                  <a:srgbClr val="533AFD"/>
                </a:solidFill>
                <a:latin typeface="Arial"/>
              </a:rPr>
              <a:t>TRUST AND SAFETY</a:t>
            </a:r>
          </a:p>
        </p:txBody>
      </p:sp>
      <p:sp>
        <p:nvSpPr>
          <p:cNvPr id="3" name="TextBox 2"/>
          <p:cNvSpPr txBox="1"/>
          <p:nvPr/>
        </p:nvSpPr>
        <p:spPr>
          <a:xfrm>
            <a:off x="812779" y="1168370"/>
            <a:ext cx="10566135" cy="571485"/>
          </a:xfrm>
          <a:prstGeom prst="rect">
            <a:avLst/>
          </a:prstGeom>
          <a:noFill/>
        </p:spPr>
        <p:txBody>
          <a:bodyPr wrap="square" anchor="t" lIns="0" rIns="0" tIns="0" bIns="0">
            <a:spAutoFit/>
          </a:bodyPr>
          <a:lstStyle/>
          <a:p>
            <a:pPr algn="l">
              <a:lnSpc>
                <a:spcPct val="100000"/>
              </a:lnSpc>
            </a:pPr>
            <a:r>
              <a:rPr sz="3600" b="1">
                <a:solidFill>
                  <a:srgbClr val="15133A"/>
                </a:solidFill>
                <a:latin typeface="Arial"/>
              </a:rPr>
              <a:t>Scams are flagged before a student applies</a:t>
            </a:r>
          </a:p>
        </p:txBody>
      </p:sp>
      <p:sp>
        <p:nvSpPr>
          <p:cNvPr id="4" name="Rounded Rectangle 3"/>
          <p:cNvSpPr/>
          <p:nvPr/>
        </p:nvSpPr>
        <p:spPr>
          <a:xfrm>
            <a:off x="812779" y="2158946"/>
            <a:ext cx="2546286" cy="2539936"/>
          </a:xfrm>
          <a:prstGeom prst="roundRect">
            <a:avLst>
              <a:gd name="adj" fmla="val 5000"/>
            </a:avLst>
          </a:prstGeom>
          <a:solidFill>
            <a:srgbClr val="FFFFFF"/>
          </a:solidFill>
          <a:ln w="9525">
            <a:solidFill>
              <a:srgbClr val="E2D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41373" y="2387540"/>
            <a:ext cx="304792" cy="304792"/>
          </a:xfrm>
          <a:prstGeom prst="ellipse">
            <a:avLst/>
          </a:prstGeom>
          <a:noFill/>
          <a:ln w="38100">
            <a:solidFill>
              <a:srgbClr val="533A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1373" y="2857428"/>
            <a:ext cx="2089097" cy="317492"/>
          </a:xfrm>
          <a:prstGeom prst="rect">
            <a:avLst/>
          </a:prstGeom>
          <a:noFill/>
        </p:spPr>
        <p:txBody>
          <a:bodyPr wrap="square" anchor="t" lIns="0" rIns="0" tIns="0" bIns="0">
            <a:spAutoFit/>
          </a:bodyPr>
          <a:lstStyle/>
          <a:p>
            <a:pPr algn="l">
              <a:lnSpc>
                <a:spcPct val="115000"/>
              </a:lnSpc>
            </a:pPr>
            <a:r>
              <a:rPr sz="1700" b="1">
                <a:solidFill>
                  <a:srgbClr val="15133A"/>
                </a:solidFill>
                <a:latin typeface="Arial"/>
              </a:rPr>
              <a:t>Flag</a:t>
            </a:r>
          </a:p>
        </p:txBody>
      </p:sp>
      <p:sp>
        <p:nvSpPr>
          <p:cNvPr id="7" name="TextBox 6"/>
          <p:cNvSpPr txBox="1"/>
          <p:nvPr/>
        </p:nvSpPr>
        <p:spPr>
          <a:xfrm>
            <a:off x="1041373" y="3238419"/>
            <a:ext cx="2089097" cy="1396965"/>
          </a:xfrm>
          <a:prstGeom prst="rect">
            <a:avLst/>
          </a:prstGeom>
          <a:noFill/>
        </p:spPr>
        <p:txBody>
          <a:bodyPr wrap="square" anchor="t" lIns="0" rIns="0" tIns="0" bIns="0">
            <a:spAutoFit/>
          </a:bodyPr>
          <a:lstStyle/>
          <a:p>
            <a:pPr algn="l">
              <a:lnSpc>
                <a:spcPct val="130000"/>
              </a:lnSpc>
            </a:pPr>
            <a:r>
              <a:rPr sz="1350" b="0">
                <a:solidFill>
                  <a:srgbClr val="454A63"/>
                </a:solidFill>
                <a:latin typeface="Arial"/>
              </a:rPr>
              <a:t>Fee requests and “WhatsApp only” are detected in listings and pasted job descriptions.</a:t>
            </a:r>
          </a:p>
        </p:txBody>
      </p:sp>
      <p:sp>
        <p:nvSpPr>
          <p:cNvPr id="8" name="Rounded Rectangle 7"/>
          <p:cNvSpPr/>
          <p:nvPr/>
        </p:nvSpPr>
        <p:spPr>
          <a:xfrm>
            <a:off x="3486062" y="2158946"/>
            <a:ext cx="2546286" cy="2539936"/>
          </a:xfrm>
          <a:prstGeom prst="roundRect">
            <a:avLst>
              <a:gd name="adj" fmla="val 5000"/>
            </a:avLst>
          </a:prstGeom>
          <a:solidFill>
            <a:srgbClr val="FFFFFF"/>
          </a:solidFill>
          <a:ln w="9525">
            <a:solidFill>
              <a:srgbClr val="E2D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14657" y="2387540"/>
            <a:ext cx="304792" cy="304792"/>
          </a:xfrm>
          <a:prstGeom prst="ellipse">
            <a:avLst/>
          </a:prstGeom>
          <a:noFill/>
          <a:ln w="38100">
            <a:solidFill>
              <a:srgbClr val="533A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14657" y="2857428"/>
            <a:ext cx="2089097" cy="317492"/>
          </a:xfrm>
          <a:prstGeom prst="rect">
            <a:avLst/>
          </a:prstGeom>
          <a:noFill/>
        </p:spPr>
        <p:txBody>
          <a:bodyPr wrap="square" anchor="t" lIns="0" rIns="0" tIns="0" bIns="0">
            <a:spAutoFit/>
          </a:bodyPr>
          <a:lstStyle/>
          <a:p>
            <a:pPr algn="l">
              <a:lnSpc>
                <a:spcPct val="115000"/>
              </a:lnSpc>
            </a:pPr>
            <a:r>
              <a:rPr sz="1700" b="1">
                <a:solidFill>
                  <a:srgbClr val="15133A"/>
                </a:solidFill>
                <a:latin typeface="Arial"/>
              </a:rPr>
              <a:t>Report</a:t>
            </a:r>
          </a:p>
        </p:txBody>
      </p:sp>
      <p:sp>
        <p:nvSpPr>
          <p:cNvPr id="11" name="TextBox 10"/>
          <p:cNvSpPr txBox="1"/>
          <p:nvPr/>
        </p:nvSpPr>
        <p:spPr>
          <a:xfrm>
            <a:off x="3714657" y="3238419"/>
            <a:ext cx="2089097" cy="1396965"/>
          </a:xfrm>
          <a:prstGeom prst="rect">
            <a:avLst/>
          </a:prstGeom>
          <a:noFill/>
        </p:spPr>
        <p:txBody>
          <a:bodyPr wrap="square" anchor="t" lIns="0" rIns="0" tIns="0" bIns="0">
            <a:spAutoFit/>
          </a:bodyPr>
          <a:lstStyle/>
          <a:p>
            <a:pPr algn="l">
              <a:lnSpc>
                <a:spcPct val="130000"/>
              </a:lnSpc>
            </a:pPr>
            <a:r>
              <a:rPr sz="1350" b="0">
                <a:solidFill>
                  <a:srgbClr val="454A63"/>
                </a:solidFill>
                <a:latin typeface="Arial"/>
              </a:rPr>
              <a:t>Three reports from different users hide a listing automatically.</a:t>
            </a:r>
          </a:p>
        </p:txBody>
      </p:sp>
      <p:sp>
        <p:nvSpPr>
          <p:cNvPr id="12" name="Rounded Rectangle 11"/>
          <p:cNvSpPr/>
          <p:nvPr/>
        </p:nvSpPr>
        <p:spPr>
          <a:xfrm>
            <a:off x="6159346" y="2158946"/>
            <a:ext cx="2546286" cy="2539936"/>
          </a:xfrm>
          <a:prstGeom prst="roundRect">
            <a:avLst>
              <a:gd name="adj" fmla="val 5000"/>
            </a:avLst>
          </a:prstGeom>
          <a:solidFill>
            <a:srgbClr val="FFFFFF"/>
          </a:solidFill>
          <a:ln w="9525">
            <a:solidFill>
              <a:srgbClr val="E2D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87940" y="2387540"/>
            <a:ext cx="304792" cy="304792"/>
          </a:xfrm>
          <a:prstGeom prst="ellipse">
            <a:avLst/>
          </a:prstGeom>
          <a:noFill/>
          <a:ln w="38100">
            <a:solidFill>
              <a:srgbClr val="533A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7940" y="2857428"/>
            <a:ext cx="2089097" cy="317492"/>
          </a:xfrm>
          <a:prstGeom prst="rect">
            <a:avLst/>
          </a:prstGeom>
          <a:noFill/>
        </p:spPr>
        <p:txBody>
          <a:bodyPr wrap="square" anchor="t" lIns="0" rIns="0" tIns="0" bIns="0">
            <a:spAutoFit/>
          </a:bodyPr>
          <a:lstStyle/>
          <a:p>
            <a:pPr algn="l">
              <a:lnSpc>
                <a:spcPct val="115000"/>
              </a:lnSpc>
            </a:pPr>
            <a:r>
              <a:rPr sz="1700" b="1">
                <a:solidFill>
                  <a:srgbClr val="15133A"/>
                </a:solidFill>
                <a:latin typeface="Arial"/>
              </a:rPr>
              <a:t>Review</a:t>
            </a:r>
          </a:p>
        </p:txBody>
      </p:sp>
      <p:sp>
        <p:nvSpPr>
          <p:cNvPr id="15" name="TextBox 14"/>
          <p:cNvSpPr txBox="1"/>
          <p:nvPr/>
        </p:nvSpPr>
        <p:spPr>
          <a:xfrm>
            <a:off x="6387940" y="3238419"/>
            <a:ext cx="2089097" cy="1396965"/>
          </a:xfrm>
          <a:prstGeom prst="rect">
            <a:avLst/>
          </a:prstGeom>
          <a:noFill/>
        </p:spPr>
        <p:txBody>
          <a:bodyPr wrap="square" anchor="t" lIns="0" rIns="0" tIns="0" bIns="0">
            <a:spAutoFit/>
          </a:bodyPr>
          <a:lstStyle/>
          <a:p>
            <a:pPr algn="l">
              <a:lnSpc>
                <a:spcPct val="130000"/>
              </a:lnSpc>
            </a:pPr>
            <a:r>
              <a:rPr sz="1350" b="0">
                <a:solidFill>
                  <a:srgbClr val="454A63"/>
                </a:solidFill>
                <a:latin typeface="Arial"/>
              </a:rPr>
              <a:t>Operators remove listings, settle disputes and approve roles.</a:t>
            </a:r>
          </a:p>
        </p:txBody>
      </p:sp>
      <p:sp>
        <p:nvSpPr>
          <p:cNvPr id="16" name="Rounded Rectangle 15"/>
          <p:cNvSpPr/>
          <p:nvPr/>
        </p:nvSpPr>
        <p:spPr>
          <a:xfrm>
            <a:off x="8832629" y="2158946"/>
            <a:ext cx="2546286" cy="2539936"/>
          </a:xfrm>
          <a:prstGeom prst="roundRect">
            <a:avLst>
              <a:gd name="adj" fmla="val 5000"/>
            </a:avLst>
          </a:prstGeom>
          <a:solidFill>
            <a:srgbClr val="FFFFFF"/>
          </a:solidFill>
          <a:ln w="9525">
            <a:solidFill>
              <a:srgbClr val="E2D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061223" y="2387540"/>
            <a:ext cx="304792" cy="304792"/>
          </a:xfrm>
          <a:prstGeom prst="ellipse">
            <a:avLst/>
          </a:prstGeom>
          <a:noFill/>
          <a:ln w="38100">
            <a:solidFill>
              <a:srgbClr val="533A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61223" y="2857428"/>
            <a:ext cx="2089097" cy="317492"/>
          </a:xfrm>
          <a:prstGeom prst="rect">
            <a:avLst/>
          </a:prstGeom>
          <a:noFill/>
        </p:spPr>
        <p:txBody>
          <a:bodyPr wrap="square" anchor="t" lIns="0" rIns="0" tIns="0" bIns="0">
            <a:spAutoFit/>
          </a:bodyPr>
          <a:lstStyle/>
          <a:p>
            <a:pPr algn="l">
              <a:lnSpc>
                <a:spcPct val="115000"/>
              </a:lnSpc>
            </a:pPr>
            <a:r>
              <a:rPr sz="1700" b="1">
                <a:solidFill>
                  <a:srgbClr val="15133A"/>
                </a:solidFill>
                <a:latin typeface="Arial"/>
              </a:rPr>
              <a:t>Audit</a:t>
            </a:r>
          </a:p>
        </p:txBody>
      </p:sp>
      <p:sp>
        <p:nvSpPr>
          <p:cNvPr id="19" name="TextBox 18"/>
          <p:cNvSpPr txBox="1"/>
          <p:nvPr/>
        </p:nvSpPr>
        <p:spPr>
          <a:xfrm>
            <a:off x="9061223" y="3238419"/>
            <a:ext cx="2089097" cy="1396965"/>
          </a:xfrm>
          <a:prstGeom prst="rect">
            <a:avLst/>
          </a:prstGeom>
          <a:noFill/>
        </p:spPr>
        <p:txBody>
          <a:bodyPr wrap="square" anchor="t" lIns="0" rIns="0" tIns="0" bIns="0">
            <a:spAutoFit/>
          </a:bodyPr>
          <a:lstStyle/>
          <a:p>
            <a:pPr algn="l">
              <a:lnSpc>
                <a:spcPct val="130000"/>
              </a:lnSpc>
            </a:pPr>
            <a:r>
              <a:rPr sz="1350" b="0">
                <a:solidFill>
                  <a:srgbClr val="454A63"/>
                </a:solidFill>
                <a:latin typeface="Arial"/>
              </a:rPr>
              <a:t>Every payment, decision and approval is logged with who and when.</a:t>
            </a:r>
          </a:p>
        </p:txBody>
      </p:sp>
      <p:sp>
        <p:nvSpPr>
          <p:cNvPr id="20" name="TextBox 19"/>
          <p:cNvSpPr txBox="1"/>
          <p:nvPr/>
        </p:nvSpPr>
        <p:spPr>
          <a:xfrm>
            <a:off x="812779" y="6222844"/>
            <a:ext cx="10566135" cy="215894"/>
          </a:xfrm>
          <a:prstGeom prst="rect">
            <a:avLst/>
          </a:prstGeom>
          <a:noFill/>
        </p:spPr>
        <p:txBody>
          <a:bodyPr wrap="square" anchor="t" lIns="0" rIns="0" tIns="0" bIns="0">
            <a:spAutoFit/>
          </a:bodyPr>
          <a:lstStyle/>
          <a:p>
            <a:pPr algn="l">
              <a:lnSpc>
                <a:spcPct val="115000"/>
              </a:lnSpc>
            </a:pPr>
            <a:r>
              <a:rPr sz="1200" b="0">
                <a:solidFill>
                  <a:srgbClr val="7A7F96"/>
                </a:solidFill>
                <a:latin typeface="Arial"/>
              </a:rPr>
              <a:t>SprintBridge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5133A"/>
        </a:solidFill>
        <a:effectLst/>
      </p:bgPr>
    </p:bg>
    <p:spTree>
      <p:nvGrpSpPr>
        <p:cNvPr id="1" name=""/>
        <p:cNvGrpSpPr/>
        <p:nvPr/>
      </p:nvGrpSpPr>
      <p:grpSpPr/>
      <p:sp>
        <p:nvSpPr>
          <p:cNvPr id="2" name="TextBox 1"/>
          <p:cNvSpPr txBox="1"/>
          <p:nvPr/>
        </p:nvSpPr>
        <p:spPr>
          <a:xfrm>
            <a:off x="812779" y="812779"/>
            <a:ext cx="10566135" cy="253993"/>
          </a:xfrm>
          <a:prstGeom prst="rect">
            <a:avLst/>
          </a:prstGeom>
          <a:noFill/>
        </p:spPr>
        <p:txBody>
          <a:bodyPr wrap="square" anchor="t" lIns="0" rIns="0" tIns="0" bIns="0">
            <a:spAutoFit/>
          </a:bodyPr>
          <a:lstStyle/>
          <a:p>
            <a:pPr algn="l">
              <a:lnSpc>
                <a:spcPct val="115000"/>
              </a:lnSpc>
            </a:pPr>
            <a:r>
              <a:rPr sz="1400" b="1">
                <a:solidFill>
                  <a:srgbClr val="B9B2FF"/>
                </a:solidFill>
                <a:latin typeface="Arial"/>
              </a:rPr>
              <a:t>SECURITY BY DESIGN</a:t>
            </a:r>
          </a:p>
        </p:txBody>
      </p:sp>
      <p:sp>
        <p:nvSpPr>
          <p:cNvPr id="3" name="TextBox 2"/>
          <p:cNvSpPr txBox="1"/>
          <p:nvPr/>
        </p:nvSpPr>
        <p:spPr>
          <a:xfrm>
            <a:off x="812779" y="1168370"/>
            <a:ext cx="10566135" cy="571485"/>
          </a:xfrm>
          <a:prstGeom prst="rect">
            <a:avLst/>
          </a:prstGeom>
          <a:noFill/>
        </p:spPr>
        <p:txBody>
          <a:bodyPr wrap="square" anchor="t" lIns="0" rIns="0" tIns="0" bIns="0">
            <a:spAutoFit/>
          </a:bodyPr>
          <a:lstStyle/>
          <a:p>
            <a:pPr algn="l">
              <a:lnSpc>
                <a:spcPct val="100000"/>
              </a:lnSpc>
            </a:pPr>
            <a:r>
              <a:rPr sz="3600" b="1">
                <a:solidFill>
                  <a:srgbClr val="F6F5FB"/>
                </a:solidFill>
                <a:latin typeface="Arial"/>
              </a:rPr>
              <a:t>Every rule lives in the database, not the screen</a:t>
            </a:r>
          </a:p>
        </p:txBody>
      </p:sp>
      <p:sp>
        <p:nvSpPr>
          <p:cNvPr id="4" name="Rectangle 3"/>
          <p:cNvSpPr/>
          <p:nvPr/>
        </p:nvSpPr>
        <p:spPr>
          <a:xfrm>
            <a:off x="812779" y="2158946"/>
            <a:ext cx="3403514" cy="38099"/>
          </a:xfrm>
          <a:prstGeom prst="rect">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779" y="2362140"/>
            <a:ext cx="3403514" cy="698482"/>
          </a:xfrm>
          <a:prstGeom prst="rect">
            <a:avLst/>
          </a:prstGeom>
          <a:noFill/>
        </p:spPr>
        <p:txBody>
          <a:bodyPr wrap="square" anchor="t" lIns="0" rIns="0" tIns="0" bIns="0">
            <a:spAutoFit/>
          </a:bodyPr>
          <a:lstStyle/>
          <a:p>
            <a:pPr algn="l">
              <a:lnSpc>
                <a:spcPct val="100000"/>
              </a:lnSpc>
            </a:pPr>
            <a:r>
              <a:rPr sz="4800" b="1">
                <a:solidFill>
                  <a:srgbClr val="F6F5FB"/>
                </a:solidFill>
                <a:latin typeface="Arial"/>
              </a:rPr>
              <a:t>178</a:t>
            </a:r>
          </a:p>
        </p:txBody>
      </p:sp>
      <p:sp>
        <p:nvSpPr>
          <p:cNvPr id="6" name="TextBox 5"/>
          <p:cNvSpPr txBox="1"/>
          <p:nvPr/>
        </p:nvSpPr>
        <p:spPr>
          <a:xfrm>
            <a:off x="812779" y="3111422"/>
            <a:ext cx="3403514" cy="761980"/>
          </a:xfrm>
          <a:prstGeom prst="rect">
            <a:avLst/>
          </a:prstGeom>
          <a:noFill/>
        </p:spPr>
        <p:txBody>
          <a:bodyPr wrap="square" anchor="t" lIns="0" rIns="0" tIns="0" bIns="0">
            <a:spAutoFit/>
          </a:bodyPr>
          <a:lstStyle/>
          <a:p>
            <a:pPr algn="l">
              <a:lnSpc>
                <a:spcPct val="130000"/>
              </a:lnSpc>
            </a:pPr>
            <a:r>
              <a:rPr sz="1400" b="0">
                <a:solidFill>
                  <a:srgbClr val="C9C6F0"/>
                </a:solidFill>
                <a:latin typeface="Arial"/>
              </a:rPr>
              <a:t>automated tests: backend, database security, live journeys, browser</a:t>
            </a:r>
          </a:p>
        </p:txBody>
      </p:sp>
      <p:sp>
        <p:nvSpPr>
          <p:cNvPr id="7" name="Rectangle 6"/>
          <p:cNvSpPr/>
          <p:nvPr/>
        </p:nvSpPr>
        <p:spPr>
          <a:xfrm>
            <a:off x="4394090" y="2158946"/>
            <a:ext cx="3403514" cy="38099"/>
          </a:xfrm>
          <a:prstGeom prst="rect">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94090" y="2362140"/>
            <a:ext cx="3403514" cy="698482"/>
          </a:xfrm>
          <a:prstGeom prst="rect">
            <a:avLst/>
          </a:prstGeom>
          <a:noFill/>
        </p:spPr>
        <p:txBody>
          <a:bodyPr wrap="square" anchor="t" lIns="0" rIns="0" tIns="0" bIns="0">
            <a:spAutoFit/>
          </a:bodyPr>
          <a:lstStyle/>
          <a:p>
            <a:pPr algn="l">
              <a:lnSpc>
                <a:spcPct val="100000"/>
              </a:lnSpc>
            </a:pPr>
            <a:r>
              <a:rPr sz="4800" b="1">
                <a:solidFill>
                  <a:srgbClr val="F6F5FB"/>
                </a:solidFill>
                <a:latin typeface="Arial"/>
              </a:rPr>
              <a:t>55</a:t>
            </a:r>
          </a:p>
        </p:txBody>
      </p:sp>
      <p:sp>
        <p:nvSpPr>
          <p:cNvPr id="9" name="TextBox 8"/>
          <p:cNvSpPr txBox="1"/>
          <p:nvPr/>
        </p:nvSpPr>
        <p:spPr>
          <a:xfrm>
            <a:off x="4394090" y="3111422"/>
            <a:ext cx="3403514" cy="761980"/>
          </a:xfrm>
          <a:prstGeom prst="rect">
            <a:avLst/>
          </a:prstGeom>
          <a:noFill/>
        </p:spPr>
        <p:txBody>
          <a:bodyPr wrap="square" anchor="t" lIns="0" rIns="0" tIns="0" bIns="0">
            <a:spAutoFit/>
          </a:bodyPr>
          <a:lstStyle/>
          <a:p>
            <a:pPr algn="l">
              <a:lnSpc>
                <a:spcPct val="130000"/>
              </a:lnSpc>
            </a:pPr>
            <a:r>
              <a:rPr sz="1400" b="0">
                <a:solidFill>
                  <a:srgbClr val="C9C6F0"/>
                </a:solidFill>
                <a:latin typeface="Arial"/>
              </a:rPr>
              <a:t>API operations, each in a contract a test enforces</a:t>
            </a:r>
          </a:p>
        </p:txBody>
      </p:sp>
      <p:sp>
        <p:nvSpPr>
          <p:cNvPr id="10" name="Rectangle 9"/>
          <p:cNvSpPr/>
          <p:nvPr/>
        </p:nvSpPr>
        <p:spPr>
          <a:xfrm>
            <a:off x="7975400" y="2158946"/>
            <a:ext cx="3403514" cy="38099"/>
          </a:xfrm>
          <a:prstGeom prst="rect">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75400" y="2362140"/>
            <a:ext cx="3403514" cy="698482"/>
          </a:xfrm>
          <a:prstGeom prst="rect">
            <a:avLst/>
          </a:prstGeom>
          <a:noFill/>
        </p:spPr>
        <p:txBody>
          <a:bodyPr wrap="square" anchor="t" lIns="0" rIns="0" tIns="0" bIns="0">
            <a:spAutoFit/>
          </a:bodyPr>
          <a:lstStyle/>
          <a:p>
            <a:pPr algn="l">
              <a:lnSpc>
                <a:spcPct val="100000"/>
              </a:lnSpc>
            </a:pPr>
            <a:r>
              <a:rPr sz="4800" b="1">
                <a:solidFill>
                  <a:srgbClr val="F6F5FB"/>
                </a:solidFill>
                <a:latin typeface="Arial"/>
              </a:rPr>
              <a:t>18</a:t>
            </a:r>
          </a:p>
        </p:txBody>
      </p:sp>
      <p:sp>
        <p:nvSpPr>
          <p:cNvPr id="12" name="TextBox 11"/>
          <p:cNvSpPr txBox="1"/>
          <p:nvPr/>
        </p:nvSpPr>
        <p:spPr>
          <a:xfrm>
            <a:off x="7975400" y="3111422"/>
            <a:ext cx="3403514" cy="761980"/>
          </a:xfrm>
          <a:prstGeom prst="rect">
            <a:avLst/>
          </a:prstGeom>
          <a:noFill/>
        </p:spPr>
        <p:txBody>
          <a:bodyPr wrap="square" anchor="t" lIns="0" rIns="0" tIns="0" bIns="0">
            <a:spAutoFit/>
          </a:bodyPr>
          <a:lstStyle/>
          <a:p>
            <a:pPr algn="l">
              <a:lnSpc>
                <a:spcPct val="130000"/>
              </a:lnSpc>
            </a:pPr>
            <a:r>
              <a:rPr sz="1400" b="0">
                <a:solidFill>
                  <a:srgbClr val="C9C6F0"/>
                </a:solidFill>
                <a:latin typeface="Arial"/>
              </a:rPr>
              <a:t>migrations: row-level security and audited SQL functions</a:t>
            </a:r>
          </a:p>
        </p:txBody>
      </p:sp>
      <p:sp>
        <p:nvSpPr>
          <p:cNvPr id="13" name="TextBox 12"/>
          <p:cNvSpPr txBox="1"/>
          <p:nvPr/>
        </p:nvSpPr>
        <p:spPr>
          <a:xfrm>
            <a:off x="812779" y="4317892"/>
            <a:ext cx="9905752" cy="825479"/>
          </a:xfrm>
          <a:prstGeom prst="rect">
            <a:avLst/>
          </a:prstGeom>
          <a:noFill/>
        </p:spPr>
        <p:txBody>
          <a:bodyPr wrap="square" anchor="t" lIns="0" rIns="0" tIns="0" bIns="0">
            <a:spAutoFit/>
          </a:bodyPr>
          <a:lstStyle/>
          <a:p>
            <a:pPr algn="l">
              <a:lnSpc>
                <a:spcPct val="135000"/>
              </a:lnSpc>
            </a:pPr>
            <a:r>
              <a:rPr sz="1500" b="0">
                <a:solidFill>
                  <a:srgbClr val="D9D6F7"/>
                </a:solidFill>
                <a:latin typeface="Arial"/>
              </a:rPr>
              <a:t>Direct database calls that skip the app are refused: granting yourself a role, posting for another company, editing your CGPA, faking skill evidence, reading a founder’s private plan.</a:t>
            </a:r>
          </a:p>
        </p:txBody>
      </p:sp>
      <p:sp>
        <p:nvSpPr>
          <p:cNvPr id="14" name="TextBox 13"/>
          <p:cNvSpPr txBox="1"/>
          <p:nvPr/>
        </p:nvSpPr>
        <p:spPr>
          <a:xfrm>
            <a:off x="812779" y="6222844"/>
            <a:ext cx="10566135" cy="215894"/>
          </a:xfrm>
          <a:prstGeom prst="rect">
            <a:avLst/>
          </a:prstGeom>
          <a:noFill/>
        </p:spPr>
        <p:txBody>
          <a:bodyPr wrap="square" anchor="t" lIns="0" rIns="0" tIns="0" bIns="0">
            <a:spAutoFit/>
          </a:bodyPr>
          <a:lstStyle/>
          <a:p>
            <a:pPr algn="l">
              <a:lnSpc>
                <a:spcPct val="115000"/>
              </a:lnSpc>
            </a:pPr>
            <a:r>
              <a:rPr sz="1200" b="0">
                <a:solidFill>
                  <a:srgbClr val="9D98D6"/>
                </a:solidFill>
                <a:latin typeface="Arial"/>
              </a:rPr>
              <a:t>SprintBridge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5FB"/>
        </a:solidFill>
        <a:effectLst/>
      </p:bgPr>
    </p:bg>
    <p:spTree>
      <p:nvGrpSpPr>
        <p:cNvPr id="1" name=""/>
        <p:cNvGrpSpPr/>
        <p:nvPr/>
      </p:nvGrpSpPr>
      <p:grpSpPr/>
      <p:sp>
        <p:nvSpPr>
          <p:cNvPr id="2" name="TextBox 1"/>
          <p:cNvSpPr txBox="1"/>
          <p:nvPr/>
        </p:nvSpPr>
        <p:spPr>
          <a:xfrm>
            <a:off x="812779" y="812779"/>
            <a:ext cx="10566135" cy="253993"/>
          </a:xfrm>
          <a:prstGeom prst="rect">
            <a:avLst/>
          </a:prstGeom>
          <a:noFill/>
        </p:spPr>
        <p:txBody>
          <a:bodyPr wrap="square" anchor="t" lIns="0" rIns="0" tIns="0" bIns="0">
            <a:spAutoFit/>
          </a:bodyPr>
          <a:lstStyle/>
          <a:p>
            <a:pPr algn="l">
              <a:lnSpc>
                <a:spcPct val="115000"/>
              </a:lnSpc>
            </a:pPr>
            <a:r>
              <a:rPr sz="1400" b="1">
                <a:solidFill>
                  <a:srgbClr val="533AFD"/>
                </a:solidFill>
                <a:latin typeface="Arial"/>
              </a:rPr>
              <a:t>BUSINESS MODEL</a:t>
            </a:r>
          </a:p>
        </p:txBody>
      </p:sp>
      <p:sp>
        <p:nvSpPr>
          <p:cNvPr id="3" name="TextBox 2"/>
          <p:cNvSpPr txBox="1"/>
          <p:nvPr/>
        </p:nvSpPr>
        <p:spPr>
          <a:xfrm>
            <a:off x="812779" y="1168370"/>
            <a:ext cx="10566135" cy="1079473"/>
          </a:xfrm>
          <a:prstGeom prst="rect">
            <a:avLst/>
          </a:prstGeom>
          <a:noFill/>
        </p:spPr>
        <p:txBody>
          <a:bodyPr wrap="square" anchor="t" lIns="0" rIns="0" tIns="0" bIns="0">
            <a:spAutoFit/>
          </a:bodyPr>
          <a:lstStyle/>
          <a:p>
            <a:pPr algn="l">
              <a:lnSpc>
                <a:spcPct val="100000"/>
              </a:lnSpc>
            </a:pPr>
            <a:r>
              <a:rPr sz="3600" b="1">
                <a:solidFill>
                  <a:srgbClr val="15133A"/>
                </a:solidFill>
                <a:latin typeface="Arial"/>
              </a:rPr>
              <a:t>Free to start, paid for scale. Trust is never for sale.</a:t>
            </a:r>
          </a:p>
        </p:txBody>
      </p:sp>
      <p:graphicFrame>
        <p:nvGraphicFramePr>
          <p:cNvPr id="4" name="Table 3"/>
          <p:cNvGraphicFramePr>
            <a:graphicFrameLocks noGrp="1"/>
          </p:cNvGraphicFramePr>
          <p:nvPr/>
        </p:nvGraphicFramePr>
        <p:xfrm>
          <a:off x="812779" y="2476438"/>
          <a:ext cx="10566134" cy="2590734"/>
        </p:xfrm>
        <a:graphic>
          <a:graphicData uri="http://schemas.openxmlformats.org/drawingml/2006/table">
            <a:tbl>
              <a:tblPr firstRow="1" bandRow="1">
                <a:tableStyleId>{5C22544A-7EE6-4342-B048-85BDC9FD1C3A}</a:tableStyleId>
              </a:tblPr>
              <a:tblGrid>
                <a:gridCol w="2535872"/>
                <a:gridCol w="3381163"/>
                <a:gridCol w="4649099"/>
              </a:tblGrid>
              <a:tr h="431789">
                <a:tc>
                  <a:txBody>
                    <a:bodyPr/>
                    <a:lstStyle/>
                    <a:p>
                      <a:r>
                        <a:rPr sz="1400" b="1">
                          <a:solidFill>
                            <a:srgbClr val="F6F5FB"/>
                          </a:solidFill>
                          <a:latin typeface="Arial"/>
                        </a:rPr>
                        <a:t>Who pays</a:t>
                      </a:r>
                    </a:p>
                  </a:txBody>
                  <a:tcPr marL="114297" marR="114297" anchor="ctr">
                    <a:solidFill>
                      <a:srgbClr val="15133A"/>
                    </a:solidFill>
                  </a:tcPr>
                </a:tc>
                <a:tc>
                  <a:txBody>
                    <a:bodyPr/>
                    <a:lstStyle/>
                    <a:p>
                      <a:r>
                        <a:rPr sz="1400" b="1">
                          <a:solidFill>
                            <a:srgbClr val="F6F5FB"/>
                          </a:solidFill>
                          <a:latin typeface="Arial"/>
                        </a:rPr>
                        <a:t>Plans</a:t>
                      </a:r>
                    </a:p>
                  </a:txBody>
                  <a:tcPr marL="114297" marR="114297" anchor="ctr">
                    <a:solidFill>
                      <a:srgbClr val="15133A"/>
                    </a:solidFill>
                  </a:tcPr>
                </a:tc>
                <a:tc>
                  <a:txBody>
                    <a:bodyPr/>
                    <a:lstStyle/>
                    <a:p>
                      <a:r>
                        <a:rPr sz="1400" b="1">
                          <a:solidFill>
                            <a:srgbClr val="F6F5FB"/>
                          </a:solidFill>
                          <a:latin typeface="Arial"/>
                        </a:rPr>
                        <a:t>What paying unlocks</a:t>
                      </a:r>
                    </a:p>
                  </a:txBody>
                  <a:tcPr marL="114297" marR="114297" anchor="ctr">
                    <a:solidFill>
                      <a:srgbClr val="15133A"/>
                    </a:solidFill>
                  </a:tcPr>
                </a:tc>
              </a:tr>
              <a:tr h="431789">
                <a:tc>
                  <a:txBody>
                    <a:bodyPr/>
                    <a:lstStyle/>
                    <a:p>
                      <a:r>
                        <a:rPr sz="1400" b="0">
                          <a:solidFill>
                            <a:srgbClr val="15133A"/>
                          </a:solidFill>
                          <a:latin typeface="Arial"/>
                        </a:rPr>
                        <a:t>Students / job seekers</a:t>
                      </a:r>
                    </a:p>
                  </a:txBody>
                  <a:tcPr marL="114297" marR="114297" anchor="ctr">
                    <a:solidFill>
                      <a:srgbClr val="FFFFFF"/>
                    </a:solidFill>
                  </a:tcPr>
                </a:tc>
                <a:tc>
                  <a:txBody>
                    <a:bodyPr/>
                    <a:lstStyle/>
                    <a:p>
                      <a:r>
                        <a:rPr sz="1400" b="0">
                          <a:solidFill>
                            <a:srgbClr val="15133A"/>
                          </a:solidFill>
                          <a:latin typeface="Arial"/>
                        </a:rPr>
                        <a:t>₹149 / ₹299 a month</a:t>
                      </a:r>
                    </a:p>
                  </a:txBody>
                  <a:tcPr marL="114297" marR="114297" anchor="ctr">
                    <a:solidFill>
                      <a:srgbClr val="FFFFFF"/>
                    </a:solidFill>
                  </a:tcPr>
                </a:tc>
                <a:tc>
                  <a:txBody>
                    <a:bodyPr/>
                    <a:lstStyle/>
                    <a:p>
                      <a:r>
                        <a:rPr sz="1400" b="0">
                          <a:solidFill>
                            <a:srgbClr val="15133A"/>
                          </a:solidFill>
                          <a:latin typeface="Arial"/>
                        </a:rPr>
                        <a:t>Unlimited resume, fit and mentor requests</a:t>
                      </a:r>
                    </a:p>
                  </a:txBody>
                  <a:tcPr marL="114297" marR="114297" anchor="ctr">
                    <a:solidFill>
                      <a:srgbClr val="FFFFFF"/>
                    </a:solidFill>
                  </a:tcPr>
                </a:tc>
              </a:tr>
              <a:tr h="431789">
                <a:tc>
                  <a:txBody>
                    <a:bodyPr/>
                    <a:lstStyle/>
                    <a:p>
                      <a:r>
                        <a:rPr sz="1400" b="0">
                          <a:solidFill>
                            <a:srgbClr val="15133A"/>
                          </a:solidFill>
                          <a:latin typeface="Arial"/>
                        </a:rPr>
                        <a:t>Recruiters</a:t>
                      </a:r>
                    </a:p>
                  </a:txBody>
                  <a:tcPr marL="114297" marR="114297" anchor="ctr">
                    <a:solidFill>
                      <a:srgbClr val="EFEDF9"/>
                    </a:solidFill>
                  </a:tcPr>
                </a:tc>
                <a:tc>
                  <a:txBody>
                    <a:bodyPr/>
                    <a:lstStyle/>
                    <a:p>
                      <a:r>
                        <a:rPr sz="1400" b="0">
                          <a:solidFill>
                            <a:srgbClr val="15133A"/>
                          </a:solidFill>
                          <a:latin typeface="Arial"/>
                        </a:rPr>
                        <a:t>₹4,999 / ₹14,999 a month</a:t>
                      </a:r>
                    </a:p>
                  </a:txBody>
                  <a:tcPr marL="114297" marR="114297" anchor="ctr">
                    <a:solidFill>
                      <a:srgbClr val="EFEDF9"/>
                    </a:solidFill>
                  </a:tcPr>
                </a:tc>
                <a:tc>
                  <a:txBody>
                    <a:bodyPr/>
                    <a:lstStyle/>
                    <a:p>
                      <a:r>
                        <a:rPr sz="1400" b="0">
                          <a:solidFill>
                            <a:srgbClr val="15133A"/>
                          </a:solidFill>
                          <a:latin typeface="Arial"/>
                        </a:rPr>
                        <a:t>5 or unlimited active listings (free: 1)</a:t>
                      </a:r>
                    </a:p>
                  </a:txBody>
                  <a:tcPr marL="114297" marR="114297" anchor="ctr">
                    <a:solidFill>
                      <a:srgbClr val="EFEDF9"/>
                    </a:solidFill>
                  </a:tcPr>
                </a:tc>
              </a:tr>
              <a:tr h="431789">
                <a:tc>
                  <a:txBody>
                    <a:bodyPr/>
                    <a:lstStyle/>
                    <a:p>
                      <a:r>
                        <a:rPr sz="1400" b="0">
                          <a:solidFill>
                            <a:srgbClr val="15133A"/>
                          </a:solidFill>
                          <a:latin typeface="Arial"/>
                        </a:rPr>
                        <a:t>Universities</a:t>
                      </a:r>
                    </a:p>
                  </a:txBody>
                  <a:tcPr marL="114297" marR="114297" anchor="ctr">
                    <a:solidFill>
                      <a:srgbClr val="FFFFFF"/>
                    </a:solidFill>
                  </a:tcPr>
                </a:tc>
                <a:tc>
                  <a:txBody>
                    <a:bodyPr/>
                    <a:lstStyle/>
                    <a:p>
                      <a:r>
                        <a:rPr sz="1400" b="0">
                          <a:solidFill>
                            <a:srgbClr val="15133A"/>
                          </a:solidFill>
                          <a:latin typeface="Arial"/>
                        </a:rPr>
                        <a:t>₹400 per student a year</a:t>
                      </a:r>
                    </a:p>
                  </a:txBody>
                  <a:tcPr marL="114297" marR="114297" anchor="ctr">
                    <a:solidFill>
                      <a:srgbClr val="FFFFFF"/>
                    </a:solidFill>
                  </a:tcPr>
                </a:tc>
                <a:tc>
                  <a:txBody>
                    <a:bodyPr/>
                    <a:lstStyle/>
                    <a:p>
                      <a:r>
                        <a:rPr sz="1400" b="0">
                          <a:solidFill>
                            <a:srgbClr val="15133A"/>
                          </a:solidFill>
                          <a:latin typeface="Arial"/>
                        </a:rPr>
                        <a:t>Unlimited drives and placement reporting</a:t>
                      </a:r>
                    </a:p>
                  </a:txBody>
                  <a:tcPr marL="114297" marR="114297" anchor="ctr">
                    <a:solidFill>
                      <a:srgbClr val="FFFFFF"/>
                    </a:solidFill>
                  </a:tcPr>
                </a:tc>
              </a:tr>
              <a:tr h="431789">
                <a:tc>
                  <a:txBody>
                    <a:bodyPr/>
                    <a:lstStyle/>
                    <a:p>
                      <a:r>
                        <a:rPr sz="1400" b="0">
                          <a:solidFill>
                            <a:srgbClr val="15133A"/>
                          </a:solidFill>
                          <a:latin typeface="Arial"/>
                        </a:rPr>
                        <a:t>Mentors</a:t>
                      </a:r>
                    </a:p>
                  </a:txBody>
                  <a:tcPr marL="114297" marR="114297" anchor="ctr">
                    <a:solidFill>
                      <a:srgbClr val="EFEDF9"/>
                    </a:solidFill>
                  </a:tcPr>
                </a:tc>
                <a:tc>
                  <a:txBody>
                    <a:bodyPr/>
                    <a:lstStyle/>
                    <a:p>
                      <a:r>
                        <a:rPr sz="1400" b="0">
                          <a:solidFill>
                            <a:srgbClr val="15133A"/>
                          </a:solidFill>
                          <a:latin typeface="Arial"/>
                        </a:rPr>
                        <a:t>20% commission, 10% on ₹499 Pro</a:t>
                      </a:r>
                    </a:p>
                  </a:txBody>
                  <a:tcPr marL="114297" marR="114297" anchor="ctr">
                    <a:solidFill>
                      <a:srgbClr val="EFEDF9"/>
                    </a:solidFill>
                  </a:tcPr>
                </a:tc>
                <a:tc>
                  <a:txBody>
                    <a:bodyPr/>
                    <a:lstStyle/>
                    <a:p>
                      <a:r>
                        <a:rPr sz="1400" b="0">
                          <a:solidFill>
                            <a:srgbClr val="15133A"/>
                          </a:solidFill>
                          <a:latin typeface="Arial"/>
                        </a:rPr>
                        <a:t>Lower commission on sessions</a:t>
                      </a:r>
                    </a:p>
                  </a:txBody>
                  <a:tcPr marL="114297" marR="114297" anchor="ctr">
                    <a:solidFill>
                      <a:srgbClr val="EFEDF9"/>
                    </a:solidFill>
                  </a:tcPr>
                </a:tc>
              </a:tr>
              <a:tr h="431789">
                <a:tc>
                  <a:txBody>
                    <a:bodyPr/>
                    <a:lstStyle/>
                    <a:p>
                      <a:r>
                        <a:rPr sz="1400" b="0">
                          <a:solidFill>
                            <a:srgbClr val="15133A"/>
                          </a:solidFill>
                          <a:latin typeface="Arial"/>
                        </a:rPr>
                        <a:t>Verification</a:t>
                      </a:r>
                    </a:p>
                  </a:txBody>
                  <a:tcPr marL="114297" marR="114297" anchor="ctr">
                    <a:solidFill>
                      <a:srgbClr val="FFFFFF"/>
                    </a:solidFill>
                  </a:tcPr>
                </a:tc>
                <a:tc>
                  <a:txBody>
                    <a:bodyPr/>
                    <a:lstStyle/>
                    <a:p>
                      <a:r>
                        <a:rPr sz="1400" b="0">
                          <a:solidFill>
                            <a:srgbClr val="15133A"/>
                          </a:solidFill>
                          <a:latin typeface="Arial"/>
                        </a:rPr>
                        <a:t>₹499 student / ₹999 job seeker</a:t>
                      </a:r>
                    </a:p>
                  </a:txBody>
                  <a:tcPr marL="114297" marR="114297" anchor="ctr">
                    <a:solidFill>
                      <a:srgbClr val="FFFFFF"/>
                    </a:solidFill>
                  </a:tcPr>
                </a:tc>
                <a:tc>
                  <a:txBody>
                    <a:bodyPr/>
                    <a:lstStyle/>
                    <a:p>
                      <a:r>
                        <a:rPr sz="1400" b="0">
                          <a:solidFill>
                            <a:srgbClr val="15133A"/>
                          </a:solidFill>
                          <a:latin typeface="Arial"/>
                        </a:rPr>
                        <a:t>Same fee pass or fail; verifier earns 60%</a:t>
                      </a:r>
                    </a:p>
                  </a:txBody>
                  <a:tcPr marL="114297" marR="114297" anchor="ctr">
                    <a:solidFill>
                      <a:srgbClr val="FFFFFF"/>
                    </a:solidFill>
                  </a:tcPr>
                </a:tc>
              </a:tr>
            </a:tbl>
          </a:graphicData>
        </a:graphic>
      </p:graphicFrame>
      <p:sp>
        <p:nvSpPr>
          <p:cNvPr id="5" name="TextBox 4"/>
          <p:cNvSpPr txBox="1"/>
          <p:nvPr/>
        </p:nvSpPr>
        <p:spPr>
          <a:xfrm>
            <a:off x="812779" y="5333866"/>
            <a:ext cx="10566135" cy="317492"/>
          </a:xfrm>
          <a:prstGeom prst="rect">
            <a:avLst/>
          </a:prstGeom>
          <a:noFill/>
        </p:spPr>
        <p:txBody>
          <a:bodyPr wrap="square" anchor="t" lIns="0" rIns="0" tIns="0" bIns="0">
            <a:spAutoFit/>
          </a:bodyPr>
          <a:lstStyle/>
          <a:p>
            <a:pPr algn="l">
              <a:lnSpc>
                <a:spcPct val="115000"/>
              </a:lnSpc>
            </a:pPr>
            <a:r>
              <a:rPr sz="1400" b="0">
                <a:solidFill>
                  <a:srgbClr val="454A63"/>
                </a:solidFill>
                <a:latin typeface="Arial"/>
              </a:rPr>
              <a:t>Paying never changes search ranking or a verification result, and employers can never charge candidates.</a:t>
            </a:r>
          </a:p>
        </p:txBody>
      </p:sp>
      <p:sp>
        <p:nvSpPr>
          <p:cNvPr id="6" name="TextBox 5"/>
          <p:cNvSpPr txBox="1"/>
          <p:nvPr/>
        </p:nvSpPr>
        <p:spPr>
          <a:xfrm>
            <a:off x="812779" y="6222844"/>
            <a:ext cx="10566135" cy="215894"/>
          </a:xfrm>
          <a:prstGeom prst="rect">
            <a:avLst/>
          </a:prstGeom>
          <a:noFill/>
        </p:spPr>
        <p:txBody>
          <a:bodyPr wrap="square" anchor="t" lIns="0" rIns="0" tIns="0" bIns="0">
            <a:spAutoFit/>
          </a:bodyPr>
          <a:lstStyle/>
          <a:p>
            <a:pPr algn="l">
              <a:lnSpc>
                <a:spcPct val="115000"/>
              </a:lnSpc>
            </a:pPr>
            <a:r>
              <a:rPr sz="1200" b="0">
                <a:solidFill>
                  <a:srgbClr val="7A7F96"/>
                </a:solidFill>
                <a:latin typeface="Arial"/>
              </a:rPr>
              <a:t>SprintBridge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5FB"/>
        </a:solidFill>
        <a:effectLst/>
      </p:bgPr>
    </p:bg>
    <p:spTree>
      <p:nvGrpSpPr>
        <p:cNvPr id="1" name=""/>
        <p:cNvGrpSpPr/>
        <p:nvPr/>
      </p:nvGrpSpPr>
      <p:grpSpPr/>
      <p:sp>
        <p:nvSpPr>
          <p:cNvPr id="2" name="TextBox 1"/>
          <p:cNvSpPr txBox="1"/>
          <p:nvPr/>
        </p:nvSpPr>
        <p:spPr>
          <a:xfrm>
            <a:off x="812779" y="812779"/>
            <a:ext cx="10566135" cy="253993"/>
          </a:xfrm>
          <a:prstGeom prst="rect">
            <a:avLst/>
          </a:prstGeom>
          <a:noFill/>
        </p:spPr>
        <p:txBody>
          <a:bodyPr wrap="square" anchor="t" lIns="0" rIns="0" tIns="0" bIns="0">
            <a:spAutoFit/>
          </a:bodyPr>
          <a:lstStyle/>
          <a:p>
            <a:pPr algn="l">
              <a:lnSpc>
                <a:spcPct val="115000"/>
              </a:lnSpc>
            </a:pPr>
            <a:r>
              <a:rPr sz="1400" b="1">
                <a:solidFill>
                  <a:srgbClr val="533AFD"/>
                </a:solidFill>
                <a:latin typeface="Arial"/>
              </a:rPr>
              <a:t>BUILT TODAY, NEXT STEPS</a:t>
            </a:r>
          </a:p>
        </p:txBody>
      </p:sp>
      <p:sp>
        <p:nvSpPr>
          <p:cNvPr id="3" name="TextBox 2"/>
          <p:cNvSpPr txBox="1"/>
          <p:nvPr/>
        </p:nvSpPr>
        <p:spPr>
          <a:xfrm>
            <a:off x="812779" y="1168370"/>
            <a:ext cx="10566135" cy="571485"/>
          </a:xfrm>
          <a:prstGeom prst="rect">
            <a:avLst/>
          </a:prstGeom>
          <a:noFill/>
        </p:spPr>
        <p:txBody>
          <a:bodyPr wrap="square" anchor="t" lIns="0" rIns="0" tIns="0" bIns="0">
            <a:spAutoFit/>
          </a:bodyPr>
          <a:lstStyle/>
          <a:p>
            <a:pPr algn="l">
              <a:lnSpc>
                <a:spcPct val="100000"/>
              </a:lnSpc>
            </a:pPr>
            <a:r>
              <a:rPr sz="3600" b="1">
                <a:solidFill>
                  <a:srgbClr val="15133A"/>
                </a:solidFill>
                <a:latin typeface="Arial"/>
              </a:rPr>
              <a:t>What’s real, and what comes next</a:t>
            </a:r>
          </a:p>
        </p:txBody>
      </p:sp>
      <p:sp>
        <p:nvSpPr>
          <p:cNvPr id="4" name="Rounded Rectangle 3"/>
          <p:cNvSpPr/>
          <p:nvPr/>
        </p:nvSpPr>
        <p:spPr>
          <a:xfrm>
            <a:off x="812779" y="2158946"/>
            <a:ext cx="5194170" cy="3301917"/>
          </a:xfrm>
          <a:prstGeom prst="roundRect">
            <a:avLst>
              <a:gd name="adj" fmla="val 3846"/>
            </a:avLst>
          </a:prstGeom>
          <a:solidFill>
            <a:srgbClr val="FFFFFF"/>
          </a:solidFill>
          <a:ln w="9525">
            <a:solidFill>
              <a:srgbClr val="E2D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6773" y="2412939"/>
            <a:ext cx="4686182" cy="380990"/>
          </a:xfrm>
          <a:prstGeom prst="rect">
            <a:avLst/>
          </a:prstGeom>
          <a:noFill/>
        </p:spPr>
        <p:txBody>
          <a:bodyPr wrap="square" anchor="t" lIns="0" rIns="0" tIns="0" bIns="0">
            <a:spAutoFit/>
          </a:bodyPr>
          <a:lstStyle/>
          <a:p>
            <a:pPr algn="l">
              <a:lnSpc>
                <a:spcPct val="115000"/>
              </a:lnSpc>
            </a:pPr>
            <a:r>
              <a:rPr sz="2000" b="1">
                <a:solidFill>
                  <a:srgbClr val="533AFD"/>
                </a:solidFill>
                <a:latin typeface="Arial"/>
              </a:rPr>
              <a:t>Working end to end</a:t>
            </a:r>
          </a:p>
        </p:txBody>
      </p:sp>
      <p:sp>
        <p:nvSpPr>
          <p:cNvPr id="6" name="TextBox 5"/>
          <p:cNvSpPr txBox="1"/>
          <p:nvPr/>
        </p:nvSpPr>
        <p:spPr>
          <a:xfrm>
            <a:off x="1066773" y="2920926"/>
            <a:ext cx="4686182" cy="2412939"/>
          </a:xfrm>
          <a:prstGeom prst="rect">
            <a:avLst/>
          </a:prstGeom>
          <a:noFill/>
        </p:spPr>
        <p:txBody>
          <a:bodyPr wrap="square" anchor="t" lIns="0" rIns="0" tIns="0" bIns="0">
            <a:spAutoFit/>
          </a:bodyPr>
          <a:lstStyle/>
          <a:p>
            <a:pPr algn="l">
              <a:lnSpc>
                <a:spcPct val="135000"/>
              </a:lnSpc>
              <a:spcAft>
                <a:spcPts val="600"/>
              </a:spcAft>
            </a:pPr>
            <a:r>
              <a:rPr sz="1400" b="0">
                <a:solidFill>
                  <a:srgbClr val="454A63"/>
                </a:solidFill>
                <a:latin typeface="Arial"/>
              </a:rPr>
              <a:t>•  Accounts, role approval, roster linking</a:t>
            </a:r>
          </a:p>
          <a:p>
            <a:pPr algn="l">
              <a:lnSpc>
                <a:spcPct val="135000"/>
              </a:lnSpc>
              <a:spcAft>
                <a:spcPts val="600"/>
              </a:spcAft>
            </a:pPr>
            <a:r>
              <a:rPr sz="1400" b="0">
                <a:solidFill>
                  <a:srgbClr val="454A63"/>
                </a:solidFill>
                <a:latin typeface="Arial"/>
              </a:rPr>
              <a:t>•  Listings, drives, eligibility, applications</a:t>
            </a:r>
          </a:p>
          <a:p>
            <a:pPr algn="l">
              <a:lnSpc>
                <a:spcPct val="135000"/>
              </a:lnSpc>
              <a:spcAft>
                <a:spcPts val="600"/>
              </a:spcAft>
            </a:pPr>
            <a:r>
              <a:rPr sz="1400" b="0">
                <a:solidFill>
                  <a:srgbClr val="454A63"/>
                </a:solidFill>
                <a:latin typeface="Arial"/>
              </a:rPr>
              <a:t>•  Resume engine, fit scores, recommendations</a:t>
            </a:r>
          </a:p>
          <a:p>
            <a:pPr algn="l">
              <a:lnSpc>
                <a:spcPct val="135000"/>
              </a:lnSpc>
              <a:spcAft>
                <a:spcPts val="600"/>
              </a:spcAft>
            </a:pPr>
            <a:r>
              <a:rPr sz="1400" b="0">
                <a:solidFill>
                  <a:srgbClr val="454A63"/>
                </a:solidFill>
                <a:latin typeface="Arial"/>
              </a:rPr>
              <a:t>•  Mentoring escrow, verification, disputes</a:t>
            </a:r>
          </a:p>
          <a:p>
            <a:pPr algn="l">
              <a:lnSpc>
                <a:spcPct val="135000"/>
              </a:lnSpc>
              <a:spcAft>
                <a:spcPts val="600"/>
              </a:spcAft>
            </a:pPr>
            <a:r>
              <a:rPr sz="1400" b="0">
                <a:solidFill>
                  <a:srgbClr val="454A63"/>
                </a:solidFill>
                <a:latin typeface="Arial"/>
              </a:rPr>
              <a:t>•  Ventures with NDA, scam flags, audit log</a:t>
            </a:r>
          </a:p>
        </p:txBody>
      </p:sp>
      <p:sp>
        <p:nvSpPr>
          <p:cNvPr id="7" name="Rounded Rectangle 6"/>
          <p:cNvSpPr/>
          <p:nvPr/>
        </p:nvSpPr>
        <p:spPr>
          <a:xfrm>
            <a:off x="6184745" y="2158946"/>
            <a:ext cx="5194170" cy="3301917"/>
          </a:xfrm>
          <a:prstGeom prst="roundRect">
            <a:avLst>
              <a:gd name="adj" fmla="val 3846"/>
            </a:avLst>
          </a:prstGeom>
          <a:solidFill>
            <a:srgbClr val="EFEDF9"/>
          </a:solidFill>
          <a:ln w="9525">
            <a:solidFill>
              <a:srgbClr val="E2D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38739" y="2412939"/>
            <a:ext cx="4686182" cy="380990"/>
          </a:xfrm>
          <a:prstGeom prst="rect">
            <a:avLst/>
          </a:prstGeom>
          <a:noFill/>
        </p:spPr>
        <p:txBody>
          <a:bodyPr wrap="square" anchor="t" lIns="0" rIns="0" tIns="0" bIns="0">
            <a:spAutoFit/>
          </a:bodyPr>
          <a:lstStyle/>
          <a:p>
            <a:pPr algn="l">
              <a:lnSpc>
                <a:spcPct val="115000"/>
              </a:lnSpc>
            </a:pPr>
            <a:r>
              <a:rPr sz="2000" b="1">
                <a:solidFill>
                  <a:srgbClr val="15133A"/>
                </a:solidFill>
                <a:latin typeface="Arial"/>
              </a:rPr>
              <a:t>Simulated or next</a:t>
            </a:r>
          </a:p>
        </p:txBody>
      </p:sp>
      <p:sp>
        <p:nvSpPr>
          <p:cNvPr id="9" name="TextBox 8"/>
          <p:cNvSpPr txBox="1"/>
          <p:nvPr/>
        </p:nvSpPr>
        <p:spPr>
          <a:xfrm>
            <a:off x="6438739" y="2920926"/>
            <a:ext cx="4686182" cy="2412939"/>
          </a:xfrm>
          <a:prstGeom prst="rect">
            <a:avLst/>
          </a:prstGeom>
          <a:noFill/>
        </p:spPr>
        <p:txBody>
          <a:bodyPr wrap="square" anchor="t" lIns="0" rIns="0" tIns="0" bIns="0">
            <a:spAutoFit/>
          </a:bodyPr>
          <a:lstStyle/>
          <a:p>
            <a:pPr algn="l">
              <a:lnSpc>
                <a:spcPct val="135000"/>
              </a:lnSpc>
              <a:spcAft>
                <a:spcPts val="600"/>
              </a:spcAft>
            </a:pPr>
            <a:r>
              <a:rPr sz="1400" b="0">
                <a:solidFill>
                  <a:srgbClr val="454A63"/>
                </a:solidFill>
                <a:latin typeface="Arial"/>
              </a:rPr>
              <a:t>•  Payments in labelled test mode (Razorpay next)</a:t>
            </a:r>
          </a:p>
          <a:p>
            <a:pPr algn="l">
              <a:lnSpc>
                <a:spcPct val="135000"/>
              </a:lnSpc>
              <a:spcAft>
                <a:spcPts val="600"/>
              </a:spcAft>
            </a:pPr>
            <a:r>
              <a:rPr sz="1400" b="0">
                <a:solidFill>
                  <a:srgbClr val="454A63"/>
                </a:solidFill>
                <a:latin typeface="Arial"/>
              </a:rPr>
              <a:t>•  Video for verification sessions</a:t>
            </a:r>
          </a:p>
          <a:p>
            <a:pPr algn="l">
              <a:lnSpc>
                <a:spcPct val="135000"/>
              </a:lnSpc>
              <a:spcAft>
                <a:spcPts val="600"/>
              </a:spcAft>
            </a:pPr>
            <a:r>
              <a:rPr sz="1400" b="0">
                <a:solidFill>
                  <a:srgbClr val="454A63"/>
                </a:solidFill>
                <a:latin typeface="Arial"/>
              </a:rPr>
              <a:t>•  ID checks and DigiLocker academic records</a:t>
            </a:r>
          </a:p>
          <a:p>
            <a:pPr algn="l">
              <a:lnSpc>
                <a:spcPct val="135000"/>
              </a:lnSpc>
              <a:spcAft>
                <a:spcPts val="600"/>
              </a:spcAft>
            </a:pPr>
            <a:r>
              <a:rPr sz="1400" b="0">
                <a:solidFill>
                  <a:srgbClr val="454A63"/>
                </a:solidFill>
                <a:latin typeface="Arial"/>
              </a:rPr>
              <a:t>•  GitHub analysis and 48-hour proof plans</a:t>
            </a:r>
          </a:p>
          <a:p>
            <a:pPr algn="l">
              <a:lnSpc>
                <a:spcPct val="135000"/>
              </a:lnSpc>
              <a:spcAft>
                <a:spcPts val="600"/>
              </a:spcAft>
            </a:pPr>
            <a:r>
              <a:rPr sz="1400" b="0">
                <a:solidFill>
                  <a:srgbClr val="454A63"/>
                </a:solidFill>
                <a:latin typeface="Arial"/>
              </a:rPr>
              <a:t>•  Scanned-resume OCR on a larger server</a:t>
            </a:r>
          </a:p>
        </p:txBody>
      </p:sp>
      <p:sp>
        <p:nvSpPr>
          <p:cNvPr id="10" name="TextBox 9"/>
          <p:cNvSpPr txBox="1"/>
          <p:nvPr/>
        </p:nvSpPr>
        <p:spPr>
          <a:xfrm>
            <a:off x="812779" y="6222844"/>
            <a:ext cx="10566135" cy="215894"/>
          </a:xfrm>
          <a:prstGeom prst="rect">
            <a:avLst/>
          </a:prstGeom>
          <a:noFill/>
        </p:spPr>
        <p:txBody>
          <a:bodyPr wrap="square" anchor="t" lIns="0" rIns="0" tIns="0" bIns="0">
            <a:spAutoFit/>
          </a:bodyPr>
          <a:lstStyle/>
          <a:p>
            <a:pPr algn="l">
              <a:lnSpc>
                <a:spcPct val="115000"/>
              </a:lnSpc>
            </a:pPr>
            <a:r>
              <a:rPr sz="1200" b="0">
                <a:solidFill>
                  <a:srgbClr val="7A7F96"/>
                </a:solidFill>
                <a:latin typeface="Arial"/>
              </a:rPr>
              <a:t>SprintBridge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5133A"/>
        </a:solidFill>
        <a:effectLst/>
      </p:bgPr>
    </p:bg>
    <p:spTree>
      <p:nvGrpSpPr>
        <p:cNvPr id="1" name=""/>
        <p:cNvGrpSpPr/>
        <p:nvPr/>
      </p:nvGrpSpPr>
      <p:grpSpPr/>
      <p:sp>
        <p:nvSpPr>
          <p:cNvPr id="2" name="TextBox 1"/>
          <p:cNvSpPr txBox="1"/>
          <p:nvPr/>
        </p:nvSpPr>
        <p:spPr>
          <a:xfrm>
            <a:off x="812779" y="1904952"/>
            <a:ext cx="10566135" cy="253993"/>
          </a:xfrm>
          <a:prstGeom prst="rect">
            <a:avLst/>
          </a:prstGeom>
          <a:noFill/>
        </p:spPr>
        <p:txBody>
          <a:bodyPr wrap="square" anchor="t" lIns="0" rIns="0" tIns="0" bIns="0">
            <a:spAutoFit/>
          </a:bodyPr>
          <a:lstStyle/>
          <a:p>
            <a:pPr algn="l">
              <a:lnSpc>
                <a:spcPct val="115000"/>
              </a:lnSpc>
            </a:pPr>
            <a:r>
              <a:rPr sz="1400" b="1">
                <a:solidFill>
                  <a:srgbClr val="B9B2FF"/>
                </a:solidFill>
                <a:latin typeface="Arial"/>
              </a:rPr>
              <a:t>LIVE DEMO</a:t>
            </a:r>
          </a:p>
        </p:txBody>
      </p:sp>
      <p:sp>
        <p:nvSpPr>
          <p:cNvPr id="3" name="TextBox 2"/>
          <p:cNvSpPr txBox="1"/>
          <p:nvPr/>
        </p:nvSpPr>
        <p:spPr>
          <a:xfrm>
            <a:off x="812779" y="2349441"/>
            <a:ext cx="10566135" cy="888977"/>
          </a:xfrm>
          <a:prstGeom prst="rect">
            <a:avLst/>
          </a:prstGeom>
          <a:noFill/>
        </p:spPr>
        <p:txBody>
          <a:bodyPr wrap="square" anchor="t" lIns="0" rIns="0" tIns="0" bIns="0">
            <a:spAutoFit/>
          </a:bodyPr>
          <a:lstStyle/>
          <a:p>
            <a:pPr algn="l">
              <a:lnSpc>
                <a:spcPct val="100000"/>
              </a:lnSpc>
            </a:pPr>
            <a:r>
              <a:rPr sz="6000" b="1">
                <a:solidFill>
                  <a:srgbClr val="F6F5FB"/>
                </a:solidFill>
                <a:latin typeface="Arial"/>
              </a:rPr>
              <a:t>See it run.</a:t>
            </a:r>
          </a:p>
        </p:txBody>
      </p:sp>
      <p:sp>
        <p:nvSpPr>
          <p:cNvPr id="4" name="TextBox 3"/>
          <p:cNvSpPr txBox="1"/>
          <p:nvPr/>
        </p:nvSpPr>
        <p:spPr>
          <a:xfrm>
            <a:off x="812779" y="3428914"/>
            <a:ext cx="8889777" cy="825479"/>
          </a:xfrm>
          <a:prstGeom prst="rect">
            <a:avLst/>
          </a:prstGeom>
          <a:noFill/>
        </p:spPr>
        <p:txBody>
          <a:bodyPr wrap="square" anchor="t" lIns="0" rIns="0" tIns="0" bIns="0">
            <a:spAutoFit/>
          </a:bodyPr>
          <a:lstStyle/>
          <a:p>
            <a:pPr algn="l">
              <a:lnSpc>
                <a:spcPct val="125000"/>
              </a:lnSpc>
            </a:pPr>
            <a:r>
              <a:rPr sz="2200" b="0">
                <a:solidFill>
                  <a:srgbClr val="D9D6F7"/>
                </a:solidFill>
                <a:latin typeface="Arial"/>
              </a:rPr>
              <a:t>Resume to recommended job, campus drive to offer, gap to mentor-verified badge.</a:t>
            </a:r>
          </a:p>
        </p:txBody>
      </p:sp>
      <p:sp>
        <p:nvSpPr>
          <p:cNvPr id="5" name="Rounded Rectangle 4"/>
          <p:cNvSpPr/>
          <p:nvPr/>
        </p:nvSpPr>
        <p:spPr>
          <a:xfrm>
            <a:off x="812779" y="4571885"/>
            <a:ext cx="3936901" cy="457188"/>
          </a:xfrm>
          <a:prstGeom prst="roundRect">
            <a:avLst>
              <a:gd name="adj" fmla="val 50000"/>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126996" rIns="126996"/>
          <a:lstStyle/>
          <a:p>
            <a:pPr algn="ctr"/>
            <a:r>
              <a:rPr sz="1600" b="1">
                <a:solidFill>
                  <a:srgbClr val="15133A"/>
                </a:solidFill>
                <a:latin typeface="Arial"/>
              </a:rPr>
              <a:t>sprintbridge-frontend.onrender.com</a:t>
            </a:r>
          </a:p>
        </p:txBody>
      </p:sp>
      <p:sp>
        <p:nvSpPr>
          <p:cNvPr id="6" name="TextBox 5"/>
          <p:cNvSpPr txBox="1"/>
          <p:nvPr/>
        </p:nvSpPr>
        <p:spPr>
          <a:xfrm>
            <a:off x="4952876" y="4686182"/>
            <a:ext cx="5714857" cy="253993"/>
          </a:xfrm>
          <a:prstGeom prst="rect">
            <a:avLst/>
          </a:prstGeom>
          <a:noFill/>
        </p:spPr>
        <p:txBody>
          <a:bodyPr wrap="square" anchor="t" lIns="0" rIns="0" tIns="0" bIns="0">
            <a:spAutoFit/>
          </a:bodyPr>
          <a:lstStyle/>
          <a:p>
            <a:pPr algn="l">
              <a:lnSpc>
                <a:spcPct val="115000"/>
              </a:lnSpc>
            </a:pPr>
            <a:r>
              <a:rPr sz="1400" b="0">
                <a:solidFill>
                  <a:srgbClr val="B9B2FF"/>
                </a:solidFill>
                <a:latin typeface="Arial"/>
              </a:rPr>
              <a:t>Thank you · [Team name]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